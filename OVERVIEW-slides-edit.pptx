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6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662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환경계획 통합 모니터링 대시보드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무엇을 다루나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지표를 넣으면, 판정은 사이트가 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영역 3개, 목표 9개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연 1회 보고서의 세 가지 한계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무엇을 만족해야 성공인가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의사결정은 사람이, 구현과 근거는 AI가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문제 정의에서 계산 규칙까지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관리자 화면, 검증, 그리고 확장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AI와 함께 만들 때 지킨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공개 화면과 관리자 화면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계층 명칭도 데이터다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공식은 두 줄뿐이다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어떻게 순조와 지연이 갈리나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방향이 반대인 두 지표, 같은 공식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다양성은 목표별로, 일관성은 상태별로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파일 하나에 표 8개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내보낸 파일을 그대로 다시 올릴 수 있어야 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무엇으로 만들어졌나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담당자가 실제로 하게 될 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자체 계획지표로 전환하기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공개 전 반드시 확인할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확장 지점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이용자가 보는 다섯 화면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담당자가 쓰는 아홉 화면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지표 체계가 바뀌어도 프로그램은 그대로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38200" y="4609207"/>
            <a:ext cx="1072515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8200" y="4609207"/>
            <a:ext cx="10725150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81800"/>
            <a:ext cx="4063901" cy="76200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901" y="6781800"/>
            <a:ext cx="4064050" cy="7620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27950" y="6781800"/>
            <a:ext cx="4064050" cy="7620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200" y="1829693"/>
            <a:ext cx="1072515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 spc="234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EP DASHBOARD · 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53543"/>
            <a:ext cx="10725150" cy="13462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301"/>
              </a:lnSpc>
              <a:spcBef>
                <a:spcPts val="0"/>
              </a:spcBef>
              <a:spcAft>
                <a:spcPts val="0"/>
              </a:spcAft>
            </a:pPr>
            <a:r>
              <a:rPr sz="4650" b="1" i="0" u="none" spc="-163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환경계획 통합</a:t>
            </a:r>
          </a:p>
          <a:p>
            <a:pPr algn="l">
              <a:lnSpc>
                <a:spcPts val="5301"/>
              </a:lnSpc>
              <a:spcBef>
                <a:spcPts val="0"/>
              </a:spcBef>
              <a:spcAft>
                <a:spcPts val="0"/>
              </a:spcAft>
            </a:pPr>
            <a:r>
              <a:rPr sz="4650" b="1" i="0" u="none" spc="-163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모니터링 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690342"/>
            <a:ext cx="7429500" cy="55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계획이행 · 환경상태 · 환경체감을 한 화면에서 확인합니다. 지표를 넣으면 달성률이 자동으로 계산되고, 담당자가 개발자 없이 데이터를 갱신합니다.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809232"/>
            <a:ext cx="1191220" cy="123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62" b="0" i="0" u="none" spc="103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대상 버전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971157"/>
            <a:ext cx="119122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v1.0 — 영역 3분할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3270" y="4809232"/>
            <a:ext cx="881062" cy="123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862" b="0" i="0" u="none" spc="103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최종수정일</a:t>
            </a:r>
            <a:endParaRPr sz="862" b="0" i="0" u="none" spc="103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53270" y="4971157"/>
            <a:ext cx="8810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2026-08-</a:t>
            </a:r>
            <a:r>
              <a:rPr lang="en-US" sz="1125" b="1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27</a:t>
            </a:r>
            <a:endParaRPr sz="1125" b="1" i="0" u="none" dirty="0">
              <a:solidFill>
                <a:srgbClr val="0E1620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58183" y="4809232"/>
            <a:ext cx="2745581" cy="123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62" b="0" i="0" u="none" spc="103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개발 방식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8183" y="4971157"/>
            <a:ext cx="2745581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Claude Code · 사람이 요구·검수 / AI가 구현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B4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1910953"/>
            <a:ext cx="5303341" cy="1201043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71902" y="1910953"/>
            <a:ext cx="5303490" cy="1201043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6607" y="3263950"/>
            <a:ext cx="5303341" cy="1201043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71902" y="3263950"/>
            <a:ext cx="5303490" cy="1201043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6607" y="4660404"/>
            <a:ext cx="10758785" cy="842367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6607" y="4660404"/>
            <a:ext cx="10758785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65868" y="4660404"/>
            <a:ext cx="9525" cy="842367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6607" y="5493246"/>
            <a:ext cx="10758785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6607" y="4660404"/>
            <a:ext cx="38100" cy="842367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6607" y="542925"/>
            <a:ext cx="921693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CONTENTS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9389" y="542925"/>
            <a:ext cx="754261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네 개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묶음</a:t>
            </a:r>
            <a:endParaRPr sz="1111" b="0" i="0" u="none" spc="144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무엇을 다루나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273" y="2115889"/>
            <a:ext cx="4850011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3273" y="2355056"/>
            <a:ext cx="4850011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무엇이고 왜 만들었나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273" y="2660898"/>
            <a:ext cx="4850011" cy="2461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개요 · 모니터링 영역 · 기존 방식의 문제와 참고 모델 · 제품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8568" y="2115889"/>
            <a:ext cx="485016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8568" y="2355056"/>
            <a:ext cx="4850160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Claude Code로 어떻게 만들었나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8568" y="2660898"/>
            <a:ext cx="4850160" cy="2461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역할 분담 · 진행 순서 · 검증에서 잡은 설계 오류 · 주의할 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273" y="3468886"/>
            <a:ext cx="4850011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273" y="3708053"/>
            <a:ext cx="4850011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구조와 규칙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273" y="4013895"/>
            <a:ext cx="4850011" cy="2461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사이트 지도 · 4단 계층 · 달성도 계산 · 색 · 데이터베이스 · CSV · 기술 스택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8568" y="3468886"/>
            <a:ext cx="485016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8568" y="3708053"/>
            <a:ext cx="4850160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운영과 참고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8568" y="4013895"/>
            <a:ext cx="4850160" cy="2461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자주 하는 작업 · 전환 절차 · 주의사항 · 로드맵 · 화면별 기능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607" y="4660404"/>
            <a:ext cx="10758785" cy="842367"/>
          </a:xfrm>
          <a:prstGeom prst="rect">
            <a:avLst/>
          </a:prstGeom>
          <a:noFill/>
        </p:spPr>
        <p:txBody>
          <a:bodyPr wrap="square" lIns="255270" tIns="161544" rIns="217170" bIns="152019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</a:pPr>
            <a:r>
              <a:rPr sz="1239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이 덱의 핵심 한 줄</a:t>
            </a: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— 지금 들어 있는 예시 지표는 코드 어디에도 박혀 있지 않습니다. 계획지표가 확정되면 </a:t>
            </a:r>
            <a:r>
              <a:rPr sz="1239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프로그램을 고치지 않고</a:t>
            </a: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관리자 화면에서 내용만 갈아끼웁니다.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607" y="6293048"/>
            <a:ext cx="174858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환경계획 통합 모니터링 대시보드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74896" y="6293048"/>
            <a:ext cx="40049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6607" y="4231928"/>
            <a:ext cx="616000" cy="256877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B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34628" y="4322415"/>
            <a:ext cx="75902" cy="75902"/>
          </a:xfrm>
          <a:prstGeom prst="roundRect">
            <a:avLst>
              <a:gd name="adj" fmla="val 50000"/>
            </a:avLst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19374" y="4231928"/>
            <a:ext cx="616000" cy="256877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97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537395" y="4322415"/>
            <a:ext cx="75902" cy="75902"/>
          </a:xfrm>
          <a:prstGeom prst="roundRect">
            <a:avLst>
              <a:gd name="adj" fmla="val 50000"/>
            </a:avLst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122140" y="4231928"/>
            <a:ext cx="616000" cy="256877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40161" y="4322415"/>
            <a:ext cx="75902" cy="7590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24907" y="4231928"/>
            <a:ext cx="616000" cy="256877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42927" y="4322415"/>
            <a:ext cx="75902" cy="75902"/>
          </a:xfrm>
          <a:prstGeom prst="roundRect">
            <a:avLst>
              <a:gd name="adj" fmla="val 50000"/>
            </a:avLst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27673" y="4231928"/>
            <a:ext cx="854869" cy="256877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68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45694" y="4322415"/>
            <a:ext cx="75902" cy="75902"/>
          </a:xfrm>
          <a:prstGeom prst="roundRect">
            <a:avLst>
              <a:gd name="adj" fmla="val 50000"/>
            </a:avLst>
          </a:prstGeom>
          <a:solidFill>
            <a:srgbClr val="868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69309" y="4231928"/>
            <a:ext cx="854869" cy="256877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87329" y="4322415"/>
            <a:ext cx="75902" cy="75902"/>
          </a:xfrm>
          <a:prstGeom prst="roundRect">
            <a:avLst>
              <a:gd name="adj" fmla="val 50000"/>
            </a:avLst>
          </a:prstGeom>
          <a:solidFill>
            <a:srgbClr val="ADB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13190" y="2816870"/>
            <a:ext cx="4762054" cy="1780133"/>
          </a:xfrm>
          <a:prstGeom prst="rect">
            <a:avLst/>
          </a:prstGeom>
          <a:noFill/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093" y="542925"/>
            <a:ext cx="345281" cy="201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개요</a:t>
            </a:r>
            <a:endParaRPr sz="1111" b="0" i="0" u="none" spc="144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지표를 넣으면, 판정은 사이트가 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607" y="2925068"/>
            <a:ext cx="5714405" cy="1111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88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지표마다 </a:t>
            </a:r>
            <a:r>
              <a:rPr sz="1368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기준값 → 최신값 → 목표값</a:t>
            </a:r>
            <a:r>
              <a:rPr sz="1368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을 넣어두면 사이트가 달성률을 계산해 6가지 상태로 판정하고 색과 배지로 표시합니다. 담당자는 개발자 없이 관리자 화면에서 지표를 추가하고 실적값을 입력할 수 있으며, 엑셀 표를 CSV로 한 번에 올릴 수도 있습니다. 모든 수정은 이력에 남습니다.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568" y="4279404"/>
            <a:ext cx="258068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 dirty="0" err="1">
                <a:solidFill>
                  <a:srgbClr val="2B8A3E"/>
                </a:solidFill>
                <a:latin typeface="Paperlogy"/>
                <a:ea typeface="Paperlogy"/>
                <a:cs typeface="Paperlogy"/>
              </a:rPr>
              <a:t>달성</a:t>
            </a:r>
            <a:endParaRPr sz="900" b="1" i="0" u="none" dirty="0">
              <a:solidFill>
                <a:srgbClr val="2B8A3E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78335" y="4279404"/>
            <a:ext cx="258068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 dirty="0" err="1">
                <a:solidFill>
                  <a:srgbClr val="1971C2"/>
                </a:solidFill>
                <a:latin typeface="Paperlogy"/>
                <a:ea typeface="Paperlogy"/>
                <a:cs typeface="Paperlogy"/>
              </a:rPr>
              <a:t>순조</a:t>
            </a:r>
            <a:endParaRPr sz="900" b="1" i="0" u="none" dirty="0">
              <a:solidFill>
                <a:srgbClr val="1971C2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81101" y="4279404"/>
            <a:ext cx="258068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E8590C"/>
                </a:solidFill>
                <a:latin typeface="Paperlogy"/>
                <a:ea typeface="Paperlogy"/>
                <a:cs typeface="Paperlogy"/>
              </a:rPr>
              <a:t>지연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83868" y="4279404"/>
            <a:ext cx="258068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C92A2A"/>
                </a:solidFill>
                <a:latin typeface="Paperlogy"/>
                <a:ea typeface="Paperlogy"/>
                <a:cs typeface="Paperlogy"/>
              </a:rPr>
              <a:t>악화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6634" y="4279404"/>
            <a:ext cx="496937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868E96"/>
                </a:solidFill>
                <a:latin typeface="Paperlogy"/>
                <a:ea typeface="Paperlogy"/>
                <a:cs typeface="Paperlogy"/>
              </a:rPr>
              <a:t>모니터링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8270" y="4279404"/>
            <a:ext cx="496937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ADB5BD"/>
                </a:solidFill>
                <a:latin typeface="Paperlogy"/>
                <a:ea typeface="Paperlogy"/>
                <a:cs typeface="Paperlogy"/>
              </a:rPr>
              <a:t>자료없음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9855" y="3021806"/>
            <a:ext cx="4308723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최우선 설계 원칙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9855" y="3260973"/>
            <a:ext cx="4308723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프레임워크 중립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9855" y="3566815"/>
            <a:ext cx="4439345" cy="49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목표·지표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개수는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물론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「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목표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/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세부목표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/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지표」라는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1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용어</a:t>
            </a:r>
            <a:r>
              <a:rPr sz="1197" b="1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1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자체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도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설정값에서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옵니다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.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코드에는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영역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코드도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,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개수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상수도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없습니다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9855" y="4145905"/>
            <a:ext cx="4308723" cy="2461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→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자체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계획지표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전환이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“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관리자에서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내용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갈아끼우기”로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끝납니다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607" y="6293048"/>
            <a:ext cx="400348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1. 개요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74896" y="6293048"/>
            <a:ext cx="40049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314575"/>
            <a:ext cx="3484959" cy="2276475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6607" y="2314575"/>
            <a:ext cx="3484959" cy="38100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92042" y="2314575"/>
            <a:ext cx="9525" cy="227647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6607" y="4581525"/>
            <a:ext cx="3484959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6607" y="2314575"/>
            <a:ext cx="9525" cy="227647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43273" y="3534608"/>
            <a:ext cx="75902" cy="21580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43273" y="3887182"/>
            <a:ext cx="75902" cy="21580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3273" y="4239756"/>
            <a:ext cx="75902" cy="21580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53520" y="2314575"/>
            <a:ext cx="3484959" cy="2276475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53520" y="2314575"/>
            <a:ext cx="3484959" cy="3810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28955" y="2314575"/>
            <a:ext cx="9525" cy="227647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53520" y="4581525"/>
            <a:ext cx="3484959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53520" y="2314575"/>
            <a:ext cx="9525" cy="227647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80186" y="3534608"/>
            <a:ext cx="75902" cy="2158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80186" y="3887182"/>
            <a:ext cx="75902" cy="2158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80186" y="4239756"/>
            <a:ext cx="75902" cy="2158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90433" y="2314575"/>
            <a:ext cx="3484959" cy="2276475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90433" y="2314575"/>
            <a:ext cx="3484959" cy="3810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465868" y="2314575"/>
            <a:ext cx="9525" cy="227647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90433" y="4581525"/>
            <a:ext cx="3484959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90433" y="2314575"/>
            <a:ext cx="9525" cy="227647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17098" y="3534608"/>
            <a:ext cx="75902" cy="2158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17098" y="3887182"/>
            <a:ext cx="75902" cy="2158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17098" y="4239756"/>
            <a:ext cx="75902" cy="2158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6607" y="4786461"/>
            <a:ext cx="10758785" cy="8511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6607" y="4786461"/>
            <a:ext cx="10758785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465868" y="4786461"/>
            <a:ext cx="9525" cy="851148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16607" y="5628084"/>
            <a:ext cx="10758785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6607" y="4786461"/>
            <a:ext cx="38100" cy="851148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093" y="542925"/>
            <a:ext cx="1024214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모니터링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영역</a:t>
            </a:r>
            <a:endParaRPr sz="1111" b="0" i="0" u="none" spc="144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영역 3개, 목표 9개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607" y="1434108"/>
            <a:ext cx="10206930" cy="2778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88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영역은 별도 기능이 아니라 계층의 최상위 축입니다. 아래 구조와 계산은 세 영역이 완전히 동일합니다.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3273" y="2548086"/>
            <a:ext cx="3031629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3273" y="2787253"/>
            <a:ext cx="3031629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계획이행 모니터링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3273" y="3093095"/>
            <a:ext cx="3031629" cy="2461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목표·세부목표별 이행 상황과 이행과제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3273" y="3426023"/>
            <a:ext cx="3031629" cy="254943"/>
          </a:xfrm>
          <a:prstGeom prst="rect">
            <a:avLst/>
          </a:prstGeom>
          <a:noFill/>
        </p:spPr>
        <p:txBody>
          <a:bodyPr wrap="square" lIns="173736" tIns="0" rIns="0" bIns="0" anchor="t">
            <a:noAutofit/>
          </a:bodyPr>
          <a:lstStyle/>
          <a:p>
            <a:pPr algn="l">
              <a:lnSpc>
                <a:spcPts val="2008"/>
              </a:lnSpc>
              <a:spcBef>
                <a:spcPts val="0"/>
              </a:spcBef>
              <a:spcAft>
                <a:spcPts val="0"/>
              </a:spcAft>
            </a:pP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G13 기후변화와 대응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3273" y="3778597"/>
            <a:ext cx="3031629" cy="254943"/>
          </a:xfrm>
          <a:prstGeom prst="rect">
            <a:avLst/>
          </a:prstGeom>
          <a:noFill/>
        </p:spPr>
        <p:txBody>
          <a:bodyPr wrap="square" lIns="173736" tIns="0" rIns="0" bIns="0" anchor="t">
            <a:noAutofit/>
          </a:bodyPr>
          <a:lstStyle/>
          <a:p>
            <a:pPr algn="l">
              <a:lnSpc>
                <a:spcPts val="2008"/>
              </a:lnSpc>
              <a:spcBef>
                <a:spcPts val="0"/>
              </a:spcBef>
              <a:spcAft>
                <a:spcPts val="0"/>
              </a:spcAft>
            </a:pP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G14 해양생태계 보전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273" y="4131171"/>
            <a:ext cx="3031629" cy="254943"/>
          </a:xfrm>
          <a:prstGeom prst="rect">
            <a:avLst/>
          </a:prstGeom>
          <a:noFill/>
        </p:spPr>
        <p:txBody>
          <a:bodyPr wrap="square" lIns="173736" tIns="0" rIns="0" bIns="0" anchor="t">
            <a:noAutofit/>
          </a:bodyPr>
          <a:lstStyle/>
          <a:p>
            <a:pPr algn="l">
              <a:lnSpc>
                <a:spcPts val="2008"/>
              </a:lnSpc>
              <a:spcBef>
                <a:spcPts val="0"/>
              </a:spcBef>
              <a:spcAft>
                <a:spcPts val="0"/>
              </a:spcAft>
            </a:pP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G15 육상생태계 보전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80186" y="2548086"/>
            <a:ext cx="3031629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/state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80186" y="2787253"/>
            <a:ext cx="3031629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환경상태 모니터링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80186" y="3093095"/>
            <a:ext cx="3031629" cy="2461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대기·물·생활/자연환경의 관측치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80186" y="3426023"/>
            <a:ext cx="3031629" cy="254943"/>
          </a:xfrm>
          <a:prstGeom prst="rect">
            <a:avLst/>
          </a:prstGeom>
          <a:noFill/>
        </p:spPr>
        <p:txBody>
          <a:bodyPr wrap="square" lIns="173736" tIns="0" rIns="0" bIns="0" anchor="t">
            <a:noAutofit/>
          </a:bodyPr>
          <a:lstStyle/>
          <a:p>
            <a:pPr algn="l">
              <a:lnSpc>
                <a:spcPts val="2008"/>
              </a:lnSpc>
              <a:spcBef>
                <a:spcPts val="0"/>
              </a:spcBef>
              <a:spcAft>
                <a:spcPts val="0"/>
              </a:spcAft>
            </a:pP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S1 대기환경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80186" y="3778597"/>
            <a:ext cx="3031629" cy="254943"/>
          </a:xfrm>
          <a:prstGeom prst="rect">
            <a:avLst/>
          </a:prstGeom>
          <a:noFill/>
        </p:spPr>
        <p:txBody>
          <a:bodyPr wrap="square" lIns="173736" tIns="0" rIns="0" bIns="0" anchor="t">
            <a:noAutofit/>
          </a:bodyPr>
          <a:lstStyle/>
          <a:p>
            <a:pPr algn="l">
              <a:lnSpc>
                <a:spcPts val="2008"/>
              </a:lnSpc>
              <a:spcBef>
                <a:spcPts val="0"/>
              </a:spcBef>
              <a:spcAft>
                <a:spcPts val="0"/>
              </a:spcAft>
            </a:pP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S2 물환경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80186" y="4131171"/>
            <a:ext cx="3031629" cy="254943"/>
          </a:xfrm>
          <a:prstGeom prst="rect">
            <a:avLst/>
          </a:prstGeom>
          <a:noFill/>
        </p:spPr>
        <p:txBody>
          <a:bodyPr wrap="square" lIns="173736" tIns="0" rIns="0" bIns="0" anchor="t">
            <a:noAutofit/>
          </a:bodyPr>
          <a:lstStyle/>
          <a:p>
            <a:pPr algn="l">
              <a:lnSpc>
                <a:spcPts val="2008"/>
              </a:lnSpc>
              <a:spcBef>
                <a:spcPts val="0"/>
              </a:spcBef>
              <a:spcAft>
                <a:spcPts val="0"/>
              </a:spcAft>
            </a:pP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S3 생활·자연환경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17098" y="2548086"/>
            <a:ext cx="3031629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/perception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7098" y="2787253"/>
            <a:ext cx="3031629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환경체감 모니터링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7098" y="3093095"/>
            <a:ext cx="3031629" cy="2461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시민 만족도·불편·인식 조사 결과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17098" y="3426023"/>
            <a:ext cx="3031629" cy="254943"/>
          </a:xfrm>
          <a:prstGeom prst="rect">
            <a:avLst/>
          </a:prstGeom>
          <a:noFill/>
        </p:spPr>
        <p:txBody>
          <a:bodyPr wrap="square" lIns="173736" tIns="0" rIns="0" bIns="0" anchor="t">
            <a:noAutofit/>
          </a:bodyPr>
          <a:lstStyle/>
          <a:p>
            <a:pPr algn="l">
              <a:lnSpc>
                <a:spcPts val="2008"/>
              </a:lnSpc>
              <a:spcBef>
                <a:spcPts val="0"/>
              </a:spcBef>
              <a:spcAft>
                <a:spcPts val="0"/>
              </a:spcAft>
            </a:pP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P1 환경 만족도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7098" y="3778597"/>
            <a:ext cx="3031629" cy="254943"/>
          </a:xfrm>
          <a:prstGeom prst="rect">
            <a:avLst/>
          </a:prstGeom>
          <a:noFill/>
        </p:spPr>
        <p:txBody>
          <a:bodyPr wrap="square" lIns="173736" tIns="0" rIns="0" bIns="0" anchor="t">
            <a:noAutofit/>
          </a:bodyPr>
          <a:lstStyle/>
          <a:p>
            <a:pPr algn="l">
              <a:lnSpc>
                <a:spcPts val="2008"/>
              </a:lnSpc>
              <a:spcBef>
                <a:spcPts val="0"/>
              </a:spcBef>
              <a:spcAft>
                <a:spcPts val="0"/>
              </a:spcAft>
            </a:pP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P2 환경 불편 경험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17098" y="4131171"/>
            <a:ext cx="3031629" cy="254943"/>
          </a:xfrm>
          <a:prstGeom prst="rect">
            <a:avLst/>
          </a:prstGeom>
          <a:noFill/>
        </p:spPr>
        <p:txBody>
          <a:bodyPr wrap="square" lIns="173736" tIns="0" rIns="0" bIns="0" anchor="t">
            <a:noAutofit/>
          </a:bodyPr>
          <a:lstStyle/>
          <a:p>
            <a:pPr algn="l">
              <a:lnSpc>
                <a:spcPts val="2008"/>
              </a:lnSpc>
              <a:spcBef>
                <a:spcPts val="0"/>
              </a:spcBef>
              <a:spcAft>
                <a:spcPts val="0"/>
              </a:spcAft>
            </a:pP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P3 환경 인식과 참여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6607" y="4786461"/>
            <a:ext cx="10758785" cy="851148"/>
          </a:xfrm>
          <a:prstGeom prst="rect">
            <a:avLst/>
          </a:prstGeom>
          <a:noFill/>
        </p:spPr>
        <p:txBody>
          <a:bodyPr wrap="square" lIns="255270" tIns="161544" rIns="217170" bIns="152019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</a:pPr>
            <a:r>
              <a:rPr sz="1239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주소는 코드에 없습니다.</a:t>
            </a: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0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/plan</a:t>
            </a: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0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/state</a:t>
            </a: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0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/perception</a:t>
            </a: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은 데이터베이스의 영역 코드에서 옵니다. 관리자에서 영역을 추가하면 상단 메뉴와 주소가 저절로 늘어납니다.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6607" y="6293048"/>
            <a:ext cx="905768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2. 모니터링 영역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74896" y="6293048"/>
            <a:ext cx="40049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B4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091035"/>
            <a:ext cx="3484959" cy="1387525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53520" y="2091035"/>
            <a:ext cx="3484959" cy="1387525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90433" y="2091035"/>
            <a:ext cx="3484959" cy="1387525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6607" y="3673971"/>
            <a:ext cx="10758785" cy="2378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6607" y="3902273"/>
            <a:ext cx="10758785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6607" y="4031159"/>
            <a:ext cx="10758785" cy="6457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6607" y="4667399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092" y="542926"/>
            <a:ext cx="1120467" cy="1293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왜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만들었나</a:t>
            </a:r>
            <a:endParaRPr sz="1111" b="0" i="0" u="none" spc="144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연 1회 보고서의 세 가지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273" y="2295971"/>
            <a:ext cx="3031629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열람성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273" y="2535138"/>
            <a:ext cx="3031629" cy="7384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기준값·목표값·최신값·달성률이 문서 곳곳에 흩어져 있어 “지금 뭐가 지연 중인지”가 한눈에 안 보입니다.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0186" y="2295971"/>
            <a:ext cx="3031629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갱신성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0186" y="2535138"/>
            <a:ext cx="3031629" cy="49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통계가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새로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나와도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문서를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처음부터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다시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만들어야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반영됩니다</a:t>
            </a:r>
            <a:r>
              <a:rPr sz="1197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7098" y="2295971"/>
            <a:ext cx="3031629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추적성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098" y="2535138"/>
            <a:ext cx="3031629" cy="49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누가 언제 어떤 수치를 고쳤는지 기록이 남지 않습니다.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607" y="3673971"/>
            <a:ext cx="10758785" cy="237827"/>
          </a:xfrm>
          <a:prstGeom prst="rect">
            <a:avLst/>
          </a:prstGeom>
          <a:noFill/>
        </p:spPr>
        <p:txBody>
          <a:bodyPr wrap="square" lIns="0" tIns="0" rIns="0" bIns="7601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 u="none" spc="123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참고 모델 — 두 사이트를 한 앱에 합쳤습니다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607" y="4031159"/>
            <a:ext cx="3657898" cy="645765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EU BDS Actions Tracker</a:t>
            </a:r>
          </a:p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 u="none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EU JRC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505" y="4031159"/>
            <a:ext cx="7100888" cy="645765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상태별 집계 카드 · 주제별 아코디언 · 상태·기한 칩 · 요약문 + 근거 링크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607" y="4676924"/>
            <a:ext cx="3657898" cy="645765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EU BDS 2030 Dashboard</a:t>
            </a:r>
          </a:p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EU JRC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4505" y="4676924"/>
            <a:ext cx="7100888" cy="645765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기준값·목표값·최신값·달성률 · 시계열 차트 · 메타데이터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607" y="6293048"/>
            <a:ext cx="78968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3. 왜 만들었나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74896" y="6293048"/>
            <a:ext cx="40049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B4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253853"/>
            <a:ext cx="860673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6607" y="2616101"/>
            <a:ext cx="860673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77280" y="2253853"/>
            <a:ext cx="3657898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77280" y="2616101"/>
            <a:ext cx="3657898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35178" y="2253853"/>
            <a:ext cx="6240214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35178" y="2616101"/>
            <a:ext cx="6240214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6607" y="2625626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6607" y="3056334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6607" y="3065859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6607" y="3496568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6607" y="3506093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6607" y="3936802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6607" y="4577209"/>
            <a:ext cx="10758785" cy="58266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6607" y="4577209"/>
            <a:ext cx="10758785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65868" y="4577209"/>
            <a:ext cx="9525" cy="582662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6607" y="5150346"/>
            <a:ext cx="10758785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6607" y="4577209"/>
            <a:ext cx="38100" cy="58266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092" y="542925"/>
            <a:ext cx="754707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제품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목표</a:t>
            </a:r>
            <a:endParaRPr sz="1111" b="0" i="0" u="none" spc="144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무엇을 만족해야 성공인가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607" y="2253853"/>
            <a:ext cx="860673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#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7280" y="2253853"/>
            <a:ext cx="3657898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목표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5178" y="2253853"/>
            <a:ext cx="6240214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달성 판단 기준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607" y="2625626"/>
            <a:ext cx="860673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 spc="12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G1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7280" y="2625626"/>
            <a:ext cx="3657898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이행 상황을 한 화면에서 파악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5178" y="2625626"/>
            <a:ext cx="6240214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첫 화면 3초 안에 영역별 평균 달성도·상태 분포·지연 지표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607" y="3065859"/>
            <a:ext cx="860673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 spc="12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G2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7280" y="3065859"/>
            <a:ext cx="3657898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개발자 없이 데이터 갱신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5178" y="3065859"/>
            <a:ext cx="6240214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담당자가 관리자 화면만으로 지표 추가 → 실적값 입력 → 공개까지 완결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607" y="3506093"/>
            <a:ext cx="860673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 spc="12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G3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7280" y="3506093"/>
            <a:ext cx="3657898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 체계 교체를 코드 수정 없이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5178" y="3506093"/>
            <a:ext cx="6240214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계층 명칭 변경 + 데이터 교체만으로 자체 계획지표 대시보드로 전환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607" y="3946327"/>
            <a:ext cx="860673" cy="4354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 spc="12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G4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77280" y="3946327"/>
            <a:ext cx="3657898" cy="4354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변경 추적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5178" y="3946327"/>
            <a:ext cx="6240214" cy="4354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모든 쓰기 작업이 이력에 남음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6607" y="4577209"/>
            <a:ext cx="10758785" cy="582662"/>
          </a:xfrm>
          <a:prstGeom prst="rect">
            <a:avLst/>
          </a:prstGeom>
          <a:noFill/>
        </p:spPr>
        <p:txBody>
          <a:bodyPr wrap="square" lIns="255270" tIns="161544" rIns="217170" bIns="152019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</a:pP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자체 계획지표가 아직 확정되지 않아 </a:t>
            </a:r>
            <a:r>
              <a:rPr sz="1239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K-SDGs 환경분야</a:t>
            </a: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로 형식 견본을 먼저 만들어 뒀습니다. 계획지표가 나오면 코드 수정 없이 내용만 교체합니다.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6607" y="6293048"/>
            <a:ext cx="78968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3. 왜 만들었나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74896" y="6293048"/>
            <a:ext cx="40049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202656"/>
            <a:ext cx="4733776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6607" y="2564904"/>
            <a:ext cx="4733776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50384" y="2202656"/>
            <a:ext cx="6025009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50384" y="2564904"/>
            <a:ext cx="6025009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6607" y="2574429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6607" y="3005138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6607" y="3014662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6607" y="3445371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6607" y="3454896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6607" y="3885605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6607" y="3895130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6607" y="4325838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6607" y="4335363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6607" y="4766072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093" y="542925"/>
            <a:ext cx="2379613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Claude Code로 어떻게 만들었나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의사결정은 사람이, 구현과 근거는 AI가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607" y="2202656"/>
            <a:ext cx="4733776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사람 — 발주 · 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0384" y="2202656"/>
            <a:ext cx="6025009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Claude Code — 설계 · 구현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607" y="2574429"/>
            <a:ext cx="4733776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무엇을 왜 만들지 정의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0384" y="2574429"/>
            <a:ext cx="6025009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요구를 화면·데이터 구조로 번역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607" y="3014662"/>
            <a:ext cx="4733776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참고 모델 지정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0384" y="3014662"/>
            <a:ext cx="6025009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참고 요소를 기능 목록으로 분해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607" y="3454896"/>
            <a:ext cx="4733776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방향 전환 결정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0384" y="3454896"/>
            <a:ext cx="6025009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전환에 필요한 스키마·화면 전부 구현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607" y="3895130"/>
            <a:ext cx="4733776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구조 변경 요구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0384" y="3895130"/>
            <a:ext cx="6025009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최소 변경으로 확장하는 방법 설계 후 구현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607" y="4335363"/>
            <a:ext cx="4733776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결과 확인 · 수용 판단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0384" y="4335363"/>
            <a:ext cx="6025009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빌드·타입체크·수용기준 검증 수행 및 보고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607" y="4775597"/>
            <a:ext cx="4733776" cy="4354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공개 여부 · 수치 검수 책임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0384" y="4775597"/>
            <a:ext cx="6025009" cy="4354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검수 필요 경고를 문서·화면에 명시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607" y="6293048"/>
            <a:ext cx="206558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4. Claude Code로 어떻게 만들었나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74896" y="6293048"/>
            <a:ext cx="40049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146846"/>
            <a:ext cx="10758785" cy="605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6607" y="2742754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6607" y="2146846"/>
            <a:ext cx="325636" cy="2419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282" b="1" i="0" u="none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6607" y="2871639"/>
            <a:ext cx="10758785" cy="83998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6607" y="3702100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6607" y="2871639"/>
            <a:ext cx="325636" cy="2419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282" b="1" i="0" u="none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607" y="3830985"/>
            <a:ext cx="10758785" cy="83998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6607" y="4661446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6607" y="3830985"/>
            <a:ext cx="325636" cy="2419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282" b="1" i="0" u="none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607" y="4790331"/>
            <a:ext cx="325636" cy="2419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282" b="1" i="0" u="none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093" y="542925"/>
            <a:ext cx="1040457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진행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순서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·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문제 정의에서 계산 규칙까지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4197" y="2146846"/>
            <a:ext cx="10281196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89"/>
              </a:lnSpc>
              <a:spcBef>
                <a:spcPts val="0"/>
              </a:spcBef>
              <a:spcAft>
                <a:spcPts val="0"/>
              </a:spcAft>
            </a:pPr>
            <a:r>
              <a:rPr sz="132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문제 정의와 참고 모델 조사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4197" y="2388840"/>
            <a:ext cx="10281196" cy="234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보고서 방식의 세 문제를 정리하고 참고 사이트에서 가져올 요소를 목록화. “두 사이트를 한 앱에 합친다”가 결론.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4197" y="2871639"/>
            <a:ext cx="10281196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89"/>
              </a:lnSpc>
              <a:spcBef>
                <a:spcPts val="0"/>
              </a:spcBef>
              <a:spcAft>
                <a:spcPts val="0"/>
              </a:spcAft>
            </a:pPr>
            <a:r>
              <a:rPr sz="132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자체 앱으로 구축, 단 CSV 경로는 남김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4197" y="3113633"/>
            <a:ext cx="10281196" cy="4691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관리자 화면이 있는 자체 앱으로 만들되, 엑셀 표를 그대로 올리고 받는 CSV 경로를 함께 뒀습니다. 한 건씩 고치는 일은 관리자 화면이, 수십 건을 한꺼번에 바꾸는 일은 CSV가 편하기 때문입니다.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4197" y="3830985"/>
            <a:ext cx="10281196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89"/>
              </a:lnSpc>
              <a:spcBef>
                <a:spcPts val="0"/>
              </a:spcBef>
              <a:spcAft>
                <a:spcPts val="0"/>
              </a:spcAft>
            </a:pPr>
            <a:r>
              <a:rPr sz="132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뼈대 구축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4197" y="4072979"/>
            <a:ext cx="10281196" cy="4691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스키마 정의 → 데이터베이스 생성 → 초기 데이터 주입. 스키마는 어떤 표가 있고 각 표에 어떤 칸이 들어가는지 적어둔 설계도로, 파일 하나로 데이터베이스가 그대로 만들어집니다.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4197" y="4790331"/>
            <a:ext cx="10281196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89"/>
              </a:lnSpc>
              <a:spcBef>
                <a:spcPts val="0"/>
              </a:spcBef>
              <a:spcAft>
                <a:spcPts val="0"/>
              </a:spcAft>
            </a:pPr>
            <a:r>
              <a:rPr sz="132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계산 규칙 격리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4197" y="5032325"/>
            <a:ext cx="10281196" cy="234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진행률·기대진행률·상태 판정·집계를 한 파일에. 화면이 늘어도 계산이 흩어지지 않게 하는 것이 목적.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607" y="6293048"/>
            <a:ext cx="67493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4. 진행 순서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74896" y="6293048"/>
            <a:ext cx="40049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631281"/>
            <a:ext cx="10758785" cy="605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6607" y="3227189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6607" y="2631281"/>
            <a:ext cx="325636" cy="2419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282" b="1" i="0" u="none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716607" y="3446864"/>
            <a:ext cx="10758785" cy="5959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6607" y="4033247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6607" y="3446864"/>
            <a:ext cx="325636" cy="2324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282" b="1" i="0" u="none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607" y="4071342"/>
            <a:ext cx="325636" cy="2419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282" b="1" i="0" u="none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093" y="542925"/>
            <a:ext cx="1034107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진행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순서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·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관리자 화면, 검증, 그리고 확장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4197" y="2631281"/>
            <a:ext cx="10281196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89"/>
              </a:lnSpc>
              <a:spcBef>
                <a:spcPts val="0"/>
              </a:spcBef>
              <a:spcAft>
                <a:spcPts val="0"/>
              </a:spcAft>
            </a:pPr>
            <a:r>
              <a:rPr sz="132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관리자 화면 구축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4197" y="2873276"/>
            <a:ext cx="10524390" cy="234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쓰기는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전부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한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갈래로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모으고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, 각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작업이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①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인증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확인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→ ②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작업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→ ③ </a:t>
            </a:r>
            <a:r>
              <a:rPr sz="1154" b="1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이력</a:t>
            </a:r>
            <a:r>
              <a:rPr sz="1154" b="1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1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기록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→ ④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화면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갱신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→ ⑤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사람이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읽을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결과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메시지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순서를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지키도록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패턴을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고정했습니다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4197" y="3446864"/>
            <a:ext cx="10281196" cy="200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89"/>
              </a:lnSpc>
              <a:spcBef>
                <a:spcPts val="0"/>
              </a:spcBef>
              <a:spcAft>
                <a:spcPts val="0"/>
              </a:spcAft>
            </a:pPr>
            <a:r>
              <a:rPr sz="1325" b="1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검증</a:t>
            </a:r>
            <a:endParaRPr sz="1325" b="1" i="0" u="none" dirty="0">
              <a:solidFill>
                <a:srgbClr val="0E1620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94197" y="3679334"/>
            <a:ext cx="10440084" cy="234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실제로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서버를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띄워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화면을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요청하고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,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저장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폼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제출을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그대로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재현하는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방식으로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수용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기준을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확인했습니다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. 이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과정에서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가장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중요한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오류를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잡았습니다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. </a:t>
            </a:r>
            <a:r>
              <a:rPr sz="1154" b="1" i="0" u="none" dirty="0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→ </a:t>
            </a:r>
            <a:r>
              <a:rPr sz="1154" b="1" i="0" u="none" dirty="0" err="1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다음</a:t>
            </a:r>
            <a:r>
              <a:rPr sz="1154" b="1" i="0" u="none" dirty="0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 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4197" y="4071342"/>
            <a:ext cx="10281196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89"/>
              </a:lnSpc>
              <a:spcBef>
                <a:spcPts val="0"/>
              </a:spcBef>
              <a:spcAft>
                <a:spcPts val="0"/>
              </a:spcAft>
            </a:pPr>
            <a:r>
              <a:rPr sz="1325" b="1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영역</a:t>
            </a:r>
            <a:r>
              <a:rPr sz="1325" b="1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3분할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4197" y="4313337"/>
            <a:ext cx="10281196" cy="4691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“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메뉴를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3개로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나누자”를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새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기능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3개가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아니라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1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계층의</a:t>
            </a:r>
            <a:r>
              <a:rPr sz="1154" b="1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1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최상위</a:t>
            </a:r>
            <a:r>
              <a:rPr sz="1154" b="1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축 </a:t>
            </a:r>
            <a:r>
              <a:rPr sz="1154" b="1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하나를</a:t>
            </a:r>
            <a:r>
              <a:rPr sz="1154" b="1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1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얹는</a:t>
            </a:r>
            <a:r>
              <a:rPr sz="1154" b="1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1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것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으로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해결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. 표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하나를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추가하니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아래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구조와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계산은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그대로였고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,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주소가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데이터에서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오므로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영역을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추가하면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메뉴가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자동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54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생성됩니다</a:t>
            </a:r>
            <a:r>
              <a:rPr sz="1154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607" y="6293048"/>
            <a:ext cx="67493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4. 진행 순서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74896" y="6293048"/>
            <a:ext cx="40049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856756"/>
            <a:ext cx="3484959" cy="1700361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53520" y="2856756"/>
            <a:ext cx="3484959" cy="1700361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90433" y="2856756"/>
            <a:ext cx="3484959" cy="1700361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092" y="542925"/>
            <a:ext cx="894407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주의할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AI와</a:t>
            </a:r>
            <a:r>
              <a:rPr sz="3505" b="1" i="0" u="none" spc="-70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3505" b="1" i="0" u="none" spc="-70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함께</a:t>
            </a:r>
            <a:r>
              <a:rPr sz="3505" b="1" i="0" u="none" spc="-70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3505" b="1" i="0" u="none" spc="-70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만들</a:t>
            </a:r>
            <a:r>
              <a:rPr sz="3505" b="1" i="0" u="none" spc="-70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때 </a:t>
            </a:r>
            <a:r>
              <a:rPr lang="ko-KR" altLang="en-US" sz="3505" b="1" i="0" u="none" spc="-70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지킬 것</a:t>
            </a:r>
            <a:endParaRPr sz="3505" b="1" i="0" u="none" spc="-70" dirty="0">
              <a:solidFill>
                <a:srgbClr val="0E1620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3273" y="3061692"/>
            <a:ext cx="3031629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수치는 반드시 검수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273" y="3367534"/>
            <a:ext cx="3031629" cy="9846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AI는 요구하지 않으면 그럴듯한 기본값을 채워 넣습니다. 예시 수치도 공식 통계를 반영하려 했지만 실제 값과 다를 수 있어, 대외 공개 전 수치 검수가 반드시 필요합니다.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0186" y="3061692"/>
            <a:ext cx="3031629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제약은 문서로 고정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0186" y="3367534"/>
            <a:ext cx="3031629" cy="7384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하드코딩 금지 같은 제약은 매번 명시해야 유지되므로 저장소 규칙서에 적어 뒀습니다. 다음 작업에도 같은 규칙이 적용됩니다.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098" y="3061692"/>
            <a:ext cx="3031629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큰 변경 뒤엔 재점검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7098" y="3367534"/>
            <a:ext cx="3031629" cy="49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자동 테스트가 없으므로, 구조를 바꾼 뒤에는 수용 기준 목록을 다시 훑는 절차가 필요합니다.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607" y="6293048"/>
            <a:ext cx="67493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4. 주의할 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5450" y="6293048"/>
            <a:ext cx="48994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11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8805" y="1733699"/>
            <a:ext cx="5283398" cy="2338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8805" y="1957983"/>
            <a:ext cx="5283398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8805" y="2080617"/>
            <a:ext cx="5283398" cy="28296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8805" y="2080617"/>
            <a:ext cx="5283398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8805" y="2090142"/>
            <a:ext cx="5283398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8805" y="2483495"/>
            <a:ext cx="5283398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8805" y="2493020"/>
            <a:ext cx="5283398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8805" y="2886373"/>
            <a:ext cx="5283398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8805" y="2895898"/>
            <a:ext cx="5283398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8805" y="3289250"/>
            <a:ext cx="5283398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8805" y="3298775"/>
            <a:ext cx="5283398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8805" y="3692128"/>
            <a:ext cx="5283398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8805" y="3701653"/>
            <a:ext cx="5283398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8805" y="4095006"/>
            <a:ext cx="5283398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8805" y="4104531"/>
            <a:ext cx="5283398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8805" y="4497884"/>
            <a:ext cx="5283398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8805" y="4507409"/>
            <a:ext cx="5283398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8805" y="4900761"/>
            <a:ext cx="5283398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29648" y="1733699"/>
            <a:ext cx="5283547" cy="2338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29648" y="1957983"/>
            <a:ext cx="5283547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29648" y="2080617"/>
            <a:ext cx="5283547" cy="32325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29648" y="2080617"/>
            <a:ext cx="5283547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29648" y="2090142"/>
            <a:ext cx="5283547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29648" y="2483495"/>
            <a:ext cx="5283547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29648" y="2493020"/>
            <a:ext cx="5283547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29648" y="2886373"/>
            <a:ext cx="5283547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29648" y="2895898"/>
            <a:ext cx="5283547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29648" y="3289250"/>
            <a:ext cx="5283547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29648" y="3298775"/>
            <a:ext cx="5283547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29648" y="3692128"/>
            <a:ext cx="5283547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9648" y="3701653"/>
            <a:ext cx="5283547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29648" y="4095006"/>
            <a:ext cx="5283547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29648" y="4104531"/>
            <a:ext cx="5283547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29648" y="4497884"/>
            <a:ext cx="5283547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29648" y="4507409"/>
            <a:ext cx="5283547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29648" y="4900761"/>
            <a:ext cx="5283547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29648" y="4910286"/>
            <a:ext cx="5283547" cy="4028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29648" y="5303639"/>
            <a:ext cx="5283547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78805" y="6201668"/>
            <a:ext cx="10834390" cy="2655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78805" y="6201668"/>
            <a:ext cx="108343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8805" y="514350"/>
            <a:ext cx="20508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1"/>
              </a:lnSpc>
              <a:spcBef>
                <a:spcPts val="0"/>
              </a:spcBef>
              <a:spcAft>
                <a:spcPts val="0"/>
              </a:spcAft>
            </a:pPr>
            <a:r>
              <a:rPr sz="1053" b="1" i="0" u="none" spc="105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7538" y="514350"/>
            <a:ext cx="1193883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1"/>
              </a:lnSpc>
              <a:spcBef>
                <a:spcPts val="0"/>
              </a:spcBef>
              <a:spcAft>
                <a:spcPts val="0"/>
              </a:spcAft>
            </a:pPr>
            <a:r>
              <a:rPr sz="1053" b="0" i="0" u="none" spc="137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사이트</a:t>
            </a:r>
            <a:r>
              <a:rPr sz="1053" b="0" i="0" u="none" spc="137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053" b="0" i="0" u="none" spc="137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전체</a:t>
            </a:r>
            <a:r>
              <a:rPr sz="1053" b="0" i="0" u="none" spc="137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053" b="0" i="0" u="none" spc="137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지도</a:t>
            </a:r>
            <a:endParaRPr sz="1053" b="0" i="0" u="none" spc="137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78805" y="758428"/>
            <a:ext cx="10834390" cy="506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985"/>
              </a:lnSpc>
              <a:spcBef>
                <a:spcPts val="0"/>
              </a:spcBef>
              <a:spcAft>
                <a:spcPts val="0"/>
              </a:spcAft>
            </a:pPr>
            <a:r>
              <a:rPr sz="3321" b="1" i="0" u="none" spc="-66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공개 화면과 관리자 화면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8805" y="1733699"/>
            <a:ext cx="5283398" cy="233809"/>
          </a:xfrm>
          <a:prstGeom prst="rect">
            <a:avLst/>
          </a:prstGeom>
          <a:noFill/>
        </p:spPr>
        <p:txBody>
          <a:bodyPr wrap="square" lIns="0" tIns="0" rIns="0" bIns="72009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972" b="0" i="0" u="none" spc="117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공개 화면 — 누구나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343" y="2182713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97671" y="2182713"/>
            <a:ext cx="3143994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통합 현황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343" y="2585591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/plan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97671" y="2585591"/>
            <a:ext cx="3143994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영역 개요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343" y="2988469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/plan/indicators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97671" y="2988469"/>
            <a:ext cx="3143994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지표 목록 + 상세 드로어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343" y="3391346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/plan/actions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97671" y="3391346"/>
            <a:ext cx="3143994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이행과제 트래커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343" y="3794224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/plan/data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97671" y="3794224"/>
            <a:ext cx="3143994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데이터 · 방법론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9343" y="4197102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/state /perception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7671" y="4197102"/>
            <a:ext cx="3143994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동일 구성이 자동 생성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343" y="4599980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/login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97671" y="4599980"/>
            <a:ext cx="3143994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관리자 로그인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29648" y="1733699"/>
            <a:ext cx="5283547" cy="233809"/>
          </a:xfrm>
          <a:prstGeom prst="rect">
            <a:avLst/>
          </a:prstGeom>
          <a:noFill/>
        </p:spPr>
        <p:txBody>
          <a:bodyPr wrap="square" lIns="0" tIns="0" rIns="0" bIns="72009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972" b="0" i="0" u="none" spc="117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관리자 화면 — 로그인 필요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0186" y="2182713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/admin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48514" y="2182713"/>
            <a:ext cx="3144143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개요 · 점검 필요 항목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50186" y="2585591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/admin/structure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48514" y="2585591"/>
            <a:ext cx="3144143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영역 → 목표 → 세부목표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50186" y="2988469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/admin/indicators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48514" y="2988469"/>
            <a:ext cx="3144143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지표 목록 · 추가 · 편집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50186" y="3391346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/admin/actions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48514" y="3391346"/>
            <a:ext cx="3144143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이행과제 관리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50186" y="3794224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/admin/data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48514" y="3794224"/>
            <a:ext cx="3144143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CSV 가져오기 · 내보내기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50186" y="4197102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/admin/config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48514" y="4197102"/>
            <a:ext cx="3144143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사이트 설정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0186" y="4599980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/admin/logs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48514" y="4599980"/>
            <a:ext cx="3144143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수정 이력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50186" y="5002857"/>
            <a:ext cx="1954411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1" i="0" u="none" spc="-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/admin/preview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48514" y="5002857"/>
            <a:ext cx="3144143" cy="2082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미리보기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8805" y="5498306"/>
            <a:ext cx="1083439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영역마다 같은 화면 세트가 자동 생성됩니다. 이행과제가 0건인 영역은 그 탭이 나타나지 않습니다.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8805" y="6324303"/>
            <a:ext cx="2324745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 u="none" spc="47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5. </a:t>
            </a:r>
            <a:r>
              <a:rPr sz="931" b="0" i="0" u="none" spc="47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사이트</a:t>
            </a:r>
            <a:r>
              <a:rPr sz="931" b="0" i="0" u="none" spc="47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931" b="0" i="0" u="none" spc="47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전체</a:t>
            </a:r>
            <a:r>
              <a:rPr sz="931" b="0" i="0" u="none" spc="47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931" b="0" i="0" u="none" spc="47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지도</a:t>
            </a:r>
            <a:endParaRPr sz="931" b="0" i="0" u="none" spc="47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1049446" y="6324302"/>
            <a:ext cx="463748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 u="none" spc="47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12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082254"/>
            <a:ext cx="5714405" cy="3952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6607" y="2082254"/>
            <a:ext cx="28575" cy="395288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243" y="2509986"/>
            <a:ext cx="5388769" cy="37623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2243" y="2509986"/>
            <a:ext cx="28575" cy="376238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68028" y="2918668"/>
            <a:ext cx="5062984" cy="55721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68028" y="2918668"/>
            <a:ext cx="28575" cy="557212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93813" y="3508325"/>
            <a:ext cx="4737199" cy="55721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93813" y="3508325"/>
            <a:ext cx="28575" cy="557212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9598" y="4097982"/>
            <a:ext cx="4411414" cy="7381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19598" y="4097982"/>
            <a:ext cx="28575" cy="738188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6607" y="4955381"/>
            <a:ext cx="5714405" cy="3762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6607" y="4955381"/>
            <a:ext cx="28575" cy="376238"/>
          </a:xfrm>
          <a:prstGeom prst="rect">
            <a:avLst/>
          </a:prstGeom>
          <a:solidFill>
            <a:srgbClr val="6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13190" y="2092226"/>
            <a:ext cx="4762054" cy="2378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13190" y="2320528"/>
            <a:ext cx="4762054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13190" y="2449413"/>
            <a:ext cx="1327993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13190" y="2811661"/>
            <a:ext cx="1327993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1184" y="2449413"/>
            <a:ext cx="1996827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1184" y="2811661"/>
            <a:ext cx="1996827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038011" y="2449413"/>
            <a:ext cx="1437233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038011" y="2811661"/>
            <a:ext cx="1437233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13190" y="2821186"/>
            <a:ext cx="4762054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713190" y="3251895"/>
            <a:ext cx="4762054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13190" y="3261420"/>
            <a:ext cx="4762054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13190" y="3692128"/>
            <a:ext cx="4762054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713190" y="3701653"/>
            <a:ext cx="4762054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713190" y="4132362"/>
            <a:ext cx="4762054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093" y="542925"/>
            <a:ext cx="1394817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데이터의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4단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계층</a:t>
            </a:r>
            <a:endParaRPr sz="1111" b="0" i="0" u="none" spc="144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계층</a:t>
            </a:r>
            <a:r>
              <a:rPr sz="3505" b="1" i="0" u="none" spc="-70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lang="ko-KR" altLang="en-US" sz="3505" b="1" i="0" u="none" spc="-70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편집 가능하게</a:t>
            </a:r>
            <a:r>
              <a:rPr lang="en-US" altLang="ko-KR" sz="3505" b="1" i="0" u="none" spc="-70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..</a:t>
            </a:r>
            <a:endParaRPr sz="3505" b="1" i="0" u="none" spc="-70" dirty="0">
              <a:solidFill>
                <a:srgbClr val="0E1620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97136" y="2179886"/>
            <a:ext cx="995362" cy="200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</a:pPr>
            <a:r>
              <a:rPr sz="1239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모니터링 영역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22723" y="2189411"/>
            <a:ext cx="2497336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예) 환경상태 모니터링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0284" y="2198936"/>
            <a:ext cx="162877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주소 · 메뉴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2772" y="2607618"/>
            <a:ext cx="669727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</a:pPr>
            <a:r>
              <a:rPr sz="1239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목표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22723" y="2607618"/>
            <a:ext cx="2497336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예) S2 물환경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50284" y="2617143"/>
            <a:ext cx="162877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색 · 아이콘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48557" y="3016300"/>
            <a:ext cx="343942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</a:pPr>
            <a:r>
              <a:rPr sz="1239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세부목표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22723" y="3106787"/>
            <a:ext cx="2497336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예) S2-1 하천 수질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341" y="3605957"/>
            <a:ext cx="138559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</a:pPr>
            <a:r>
              <a:rPr sz="1239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3125" y="3696444"/>
            <a:ext cx="2497336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예) S2-1-1 BOD 농도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3933" y="3705969"/>
            <a:ext cx="162877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 u="none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기준</a:t>
            </a:r>
            <a:r>
              <a:rPr sz="1068" b="0" i="0" u="none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· </a:t>
            </a:r>
            <a:r>
              <a:rPr sz="1068" b="0" i="0" u="none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목표</a:t>
            </a:r>
            <a:r>
              <a:rPr sz="1068" b="0" i="0" u="none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· </a:t>
            </a:r>
            <a:r>
              <a:rPr sz="1068" b="0" i="0" u="none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출처</a:t>
            </a:r>
            <a:endParaRPr sz="1068" b="0" i="0" u="none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200126" y="4195614"/>
            <a:ext cx="138559" cy="542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</a:pPr>
            <a:r>
              <a:rPr sz="1239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실적값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910" y="4376589"/>
            <a:ext cx="2497336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2018: 2.1 · 2019: 2.0 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31358" y="4322714"/>
            <a:ext cx="162877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 u="none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연도</a:t>
            </a:r>
            <a:r>
              <a:rPr sz="1068" b="0" i="0" u="none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× </a:t>
            </a:r>
            <a:r>
              <a:rPr sz="1068" b="0" i="0" u="none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지역</a:t>
            </a:r>
            <a:endParaRPr sz="1068" b="0" i="0" u="none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97136" y="5053012"/>
            <a:ext cx="995362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</a:pPr>
            <a:r>
              <a:rPr sz="1239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이행과제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22723" y="5053012"/>
            <a:ext cx="2497336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목표 · 세부목표에 연결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50284" y="5062538"/>
            <a:ext cx="162877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별도 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13190" y="2092226"/>
            <a:ext cx="4762054" cy="237827"/>
          </a:xfrm>
          <a:prstGeom prst="rect">
            <a:avLst/>
          </a:prstGeom>
          <a:noFill/>
        </p:spPr>
        <p:txBody>
          <a:bodyPr wrap="square" lIns="0" tIns="0" rIns="0" bIns="7601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 u="none" spc="123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화면의 단어는 설정값에서 온다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13190" y="2449413"/>
            <a:ext cx="1327993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설정 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1184" y="2449413"/>
            <a:ext cx="1996827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현재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38011" y="2449413"/>
            <a:ext cx="1437233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바꾼다면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13190" y="2821186"/>
            <a:ext cx="1327993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 spc="12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level0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1184" y="2821186"/>
            <a:ext cx="1996827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모니터링 영역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38011" y="2821186"/>
            <a:ext cx="1437233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분야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13190" y="3261420"/>
            <a:ext cx="1327993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 spc="12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level1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1184" y="3261420"/>
            <a:ext cx="1996827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목표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38011" y="3261420"/>
            <a:ext cx="1437233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부문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13190" y="3701653"/>
            <a:ext cx="1327993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 spc="12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level2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1184" y="3701653"/>
            <a:ext cx="1996827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세부목표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38011" y="3701653"/>
            <a:ext cx="1437233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추진전략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13190" y="4141887"/>
            <a:ext cx="1327993" cy="4354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 spc="12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level3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1184" y="4141887"/>
            <a:ext cx="1996827" cy="4354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38011" y="4141887"/>
            <a:ext cx="1437233" cy="4354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계획지표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13190" y="4729311"/>
            <a:ext cx="4762054" cy="4512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78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개발 중 실제로 「부문 / 추진전략 / 계획지표」로 바꿔 화면 전체 용어가 일괄 변경되는 것을 확인했습니다. 자체 계획지표 </a:t>
            </a:r>
            <a:r>
              <a:rPr sz="1111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전환 리허설</a:t>
            </a:r>
            <a:r>
              <a:rPr sz="1111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이었습니다.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6606" y="6293048"/>
            <a:ext cx="2686993" cy="1592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6. </a:t>
            </a:r>
            <a:r>
              <a:rPr sz="983" b="0" i="0" u="none" spc="49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데이터의</a:t>
            </a:r>
            <a:r>
              <a:rPr sz="983" b="0" i="0" u="none" spc="49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4단 </a:t>
            </a:r>
            <a:r>
              <a:rPr sz="983" b="0" i="0" u="none" spc="49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계층</a:t>
            </a:r>
            <a:endParaRPr sz="983" b="0" i="0" u="none" spc="49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985450" y="6293048"/>
            <a:ext cx="48994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13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344341"/>
            <a:ext cx="10758785" cy="1002655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6607" y="2344341"/>
            <a:ext cx="38100" cy="1002655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6607" y="3542407"/>
            <a:ext cx="5238304" cy="1150739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37089" y="3542407"/>
            <a:ext cx="5238304" cy="1141363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092" y="542925"/>
            <a:ext cx="124757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달성도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계산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규칙</a:t>
            </a:r>
            <a:endParaRPr sz="1111" b="0" i="0" u="none" spc="144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공식은 두 줄뿐이다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305" y="2571006"/>
            <a:ext cx="16287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282" b="1" i="0" u="none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진행률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6034" y="2561481"/>
            <a:ext cx="8418761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 u="none" spc="-7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(최신값 - 기준값) ÷ (목표값 - 기준값) ×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305" y="2920305"/>
            <a:ext cx="16287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282" b="1" i="0" u="none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기대진행률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6034" y="2910780"/>
            <a:ext cx="8418761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 u="none" spc="-7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(최신 데이터 연도 - 기준연도) ÷ (목표연도 - 기준연도) ×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273" y="3747343"/>
            <a:ext cx="4784973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① 방향을 분기하지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273" y="3986510"/>
            <a:ext cx="4784973" cy="501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분모 </a:t>
            </a:r>
            <a:r>
              <a:rPr sz="1149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목표값 - 기준값</a:t>
            </a: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의 </a:t>
            </a:r>
            <a:r>
              <a:rPr sz="1197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부호가 방향을 자동으로 흡수</a:t>
            </a: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합니다. 값이 작아져야 좋은 지표도 같은 식으로 계산됩니다.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3754" y="3747343"/>
            <a:ext cx="4784973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② 현재연도가 아니라 최신 데이터 연도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3754" y="3986510"/>
            <a:ext cx="4784973" cy="49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환경 통계는 공표가 1~2년 늦습니다. 현재연도 기대치와 비교하면 </a:t>
            </a:r>
            <a:r>
              <a:rPr sz="1197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정상 진행 중인 지표까지 전부 「지연」</a:t>
            </a: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으로 찍힙니다.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607" y="4888557"/>
            <a:ext cx="107587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계산은 한 파일에만 있습니다. 어느 화면에서 보든 같은 숫자가 나오는 이유입니다.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607" y="6293048"/>
            <a:ext cx="1059061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7. 달성도 계산 규칙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5450" y="6293048"/>
            <a:ext cx="48994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14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8805" y="1688455"/>
            <a:ext cx="1733401" cy="352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8805" y="2031504"/>
            <a:ext cx="1733401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12206" y="1688455"/>
            <a:ext cx="3466951" cy="352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12206" y="2031504"/>
            <a:ext cx="3466951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79157" y="1688455"/>
            <a:ext cx="5634038" cy="352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79157" y="2031504"/>
            <a:ext cx="5634038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8805" y="2041029"/>
            <a:ext cx="10834390" cy="4847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8805" y="2516237"/>
            <a:ext cx="108343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8805" y="2525762"/>
            <a:ext cx="10834390" cy="4847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8805" y="3000970"/>
            <a:ext cx="108343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8805" y="3010495"/>
            <a:ext cx="10834390" cy="4847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8805" y="3485704"/>
            <a:ext cx="108343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8805" y="3495229"/>
            <a:ext cx="10834390" cy="4847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8805" y="3970437"/>
            <a:ext cx="108343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8805" y="3979962"/>
            <a:ext cx="10834390" cy="4847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8805" y="4455170"/>
            <a:ext cx="108343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8805" y="5232678"/>
            <a:ext cx="71884" cy="20538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8805" y="5566797"/>
            <a:ext cx="71884" cy="20538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8805" y="6201668"/>
            <a:ext cx="10834390" cy="2655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8805" y="6201668"/>
            <a:ext cx="108343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8805" y="514350"/>
            <a:ext cx="20508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1"/>
              </a:lnSpc>
              <a:spcBef>
                <a:spcPts val="0"/>
              </a:spcBef>
              <a:spcAft>
                <a:spcPts val="0"/>
              </a:spcAft>
            </a:pPr>
            <a:r>
              <a:rPr sz="1053" b="1" i="0" u="none" spc="105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7538" y="514350"/>
            <a:ext cx="1394668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1"/>
              </a:lnSpc>
              <a:spcBef>
                <a:spcPts val="0"/>
              </a:spcBef>
              <a:spcAft>
                <a:spcPts val="0"/>
              </a:spcAft>
            </a:pPr>
            <a:r>
              <a:rPr sz="1053" b="0" i="0" u="none" spc="137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상태</a:t>
            </a:r>
            <a:r>
              <a:rPr sz="1053" b="0" i="0" u="none" spc="137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6종 </a:t>
            </a:r>
            <a:r>
              <a:rPr sz="1053" b="0" i="0" u="none" spc="137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판정</a:t>
            </a:r>
            <a:r>
              <a:rPr sz="1053" b="0" i="0" u="none" spc="137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053" b="0" i="0" u="none" spc="137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기준</a:t>
            </a:r>
            <a:endParaRPr sz="1053" b="0" i="0" u="none" spc="137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8805" y="758428"/>
            <a:ext cx="10834390" cy="506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985"/>
              </a:lnSpc>
              <a:spcBef>
                <a:spcPts val="0"/>
              </a:spcBef>
              <a:spcAft>
                <a:spcPts val="0"/>
              </a:spcAft>
            </a:pPr>
            <a:r>
              <a:rPr sz="3321" b="1" i="0" u="none" spc="-66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어떻게 순조와 지연이 갈리나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805" y="1688455"/>
            <a:ext cx="1733401" cy="352574"/>
          </a:xfrm>
          <a:prstGeom prst="rect">
            <a:avLst/>
          </a:prstGeom>
          <a:noFill/>
        </p:spPr>
        <p:txBody>
          <a:bodyPr wrap="square" lIns="123444" tIns="92583" rIns="123444" bIns="72009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 u="none" spc="93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상태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12206" y="1688455"/>
            <a:ext cx="3466951" cy="352574"/>
          </a:xfrm>
          <a:prstGeom prst="rect">
            <a:avLst/>
          </a:prstGeom>
          <a:noFill/>
        </p:spPr>
        <p:txBody>
          <a:bodyPr wrap="square" lIns="123444" tIns="92583" rIns="123444" bIns="72009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 u="none" spc="93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조건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9157" y="1688455"/>
            <a:ext cx="5634038" cy="352574"/>
          </a:xfrm>
          <a:prstGeom prst="rect">
            <a:avLst/>
          </a:prstGeom>
          <a:noFill/>
        </p:spPr>
        <p:txBody>
          <a:bodyPr wrap="square" lIns="123444" tIns="92583" rIns="123444" bIns="72009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 u="none" spc="93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의미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805" y="2041029"/>
            <a:ext cx="1733401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 u="none">
                <a:solidFill>
                  <a:srgbClr val="2B8A3E"/>
                </a:solidFill>
                <a:latin typeface="Paperlogy"/>
                <a:ea typeface="Paperlogy"/>
                <a:cs typeface="Paperlogy"/>
              </a:rPr>
              <a:t>달성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12206" y="2041029"/>
            <a:ext cx="3466951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 u="none" spc="1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진행률 ≥ 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9157" y="2041029"/>
            <a:ext cx="5634038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목표값에 도달했습니다.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805" y="2525762"/>
            <a:ext cx="1733401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 u="none">
                <a:solidFill>
                  <a:srgbClr val="1971C2"/>
                </a:solidFill>
                <a:latin typeface="Paperlogy"/>
                <a:ea typeface="Paperlogy"/>
                <a:cs typeface="Paperlogy"/>
              </a:rPr>
              <a:t>순조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12206" y="2525762"/>
            <a:ext cx="3466951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 u="none" spc="1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진행률 ≥ 기대진행률 × 0.9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9157" y="2525762"/>
            <a:ext cx="5634038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기대 진행 속도를 따라가고 있습니다.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805" y="3010495"/>
            <a:ext cx="1733401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 u="none">
                <a:solidFill>
                  <a:srgbClr val="E8590C"/>
                </a:solidFill>
                <a:latin typeface="Paperlogy"/>
                <a:ea typeface="Paperlogy"/>
                <a:cs typeface="Paperlogy"/>
              </a:rPr>
              <a:t>지연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12206" y="3010495"/>
            <a:ext cx="3466951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 u="none" spc="1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진행률 &lt; 기대진행률 × 0.9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9157" y="3010495"/>
            <a:ext cx="5634038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기대 진행 속도에 못 미칩니다.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805" y="3495229"/>
            <a:ext cx="1733401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 u="none">
                <a:solidFill>
                  <a:srgbClr val="C92A2A"/>
                </a:solidFill>
                <a:latin typeface="Paperlogy"/>
                <a:ea typeface="Paperlogy"/>
                <a:cs typeface="Paperlogy"/>
              </a:rPr>
              <a:t>악화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12206" y="3495229"/>
            <a:ext cx="3466951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 u="none" spc="1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진행률 &lt;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79157" y="3495229"/>
            <a:ext cx="5634038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기준값보다 후퇴했습니다.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805" y="3979962"/>
            <a:ext cx="1733401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 u="none">
                <a:solidFill>
                  <a:srgbClr val="868E96"/>
                </a:solidFill>
                <a:latin typeface="Paperlogy"/>
                <a:ea typeface="Paperlogy"/>
                <a:cs typeface="Paperlogy"/>
              </a:rPr>
              <a:t>모니터링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12206" y="3979962"/>
            <a:ext cx="3466951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 u="none" spc="1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목표값 미설정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79157" y="3979962"/>
            <a:ext cx="5634038" cy="484733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목표 없이 관찰만 하는 지표입니다.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8805" y="4464695"/>
            <a:ext cx="1733401" cy="479971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 u="none">
                <a:solidFill>
                  <a:srgbClr val="ADB5BD"/>
                </a:solidFill>
                <a:latin typeface="Paperlogy"/>
                <a:ea typeface="Paperlogy"/>
                <a:cs typeface="Paperlogy"/>
              </a:rPr>
              <a:t>자료없음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12206" y="4464695"/>
            <a:ext cx="3466951" cy="479971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 u="none" spc="1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실적값 없음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79157" y="4464695"/>
            <a:ext cx="5634038" cy="479971"/>
          </a:xfrm>
          <a:prstGeom prst="rect">
            <a:avLst/>
          </a:prstGeom>
          <a:noFill/>
        </p:spPr>
        <p:txBody>
          <a:bodyPr wrap="square" lIns="123444" tIns="92583" rIns="123444" bIns="92583" anchor="t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실적값이 아직 입력되지 않았습니다.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8805" y="5129808"/>
            <a:ext cx="10834390" cy="241548"/>
          </a:xfrm>
          <a:prstGeom prst="rect">
            <a:avLst/>
          </a:prstGeom>
          <a:noFill/>
        </p:spPr>
        <p:txBody>
          <a:bodyPr wrap="square" lIns="164592" tIns="0" rIns="0" bIns="0" anchor="t">
            <a:noAutofit/>
          </a:bodyPr>
          <a:lstStyle/>
          <a:p>
            <a:pPr algn="l">
              <a:lnSpc>
                <a:spcPts val="1902"/>
              </a:lnSpc>
              <a:spcBef>
                <a:spcPts val="0"/>
              </a:spcBef>
              <a:spcAft>
                <a:spcPts val="0"/>
              </a:spcAft>
            </a:pPr>
            <a:r>
              <a:rPr sz="117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최신 자료가 </a:t>
            </a:r>
            <a:r>
              <a:rPr sz="1174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3년</a:t>
            </a:r>
            <a:r>
              <a:rPr sz="117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을 넘겨 갱신되지 않으면 「자료 갱신 필요」 배지가 붙습니다.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805" y="5463927"/>
            <a:ext cx="10834390" cy="241548"/>
          </a:xfrm>
          <a:prstGeom prst="rect">
            <a:avLst/>
          </a:prstGeom>
          <a:noFill/>
        </p:spPr>
        <p:txBody>
          <a:bodyPr wrap="square" lIns="164592" tIns="0" rIns="0" bIns="0" anchor="t">
            <a:noAutofit/>
          </a:bodyPr>
          <a:lstStyle/>
          <a:p>
            <a:pPr algn="l">
              <a:lnSpc>
                <a:spcPts val="1902"/>
              </a:lnSpc>
              <a:spcBef>
                <a:spcPts val="0"/>
              </a:spcBef>
              <a:spcAft>
                <a:spcPts val="0"/>
              </a:spcAft>
            </a:pPr>
            <a:r>
              <a:rPr sz="117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평균 달성도 계산에서 「자료없음」·「모니터링」은 </a:t>
            </a:r>
            <a:r>
              <a:rPr sz="1174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제외</a:t>
            </a:r>
            <a:r>
              <a:rPr sz="117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합니다.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805" y="6324302"/>
            <a:ext cx="1002357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 u="none" spc="47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7. 달성도 계산 규칙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446" y="6324302"/>
            <a:ext cx="463748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 u="none" spc="47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15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294037"/>
            <a:ext cx="5238304" cy="2449264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3273" y="4174331"/>
            <a:ext cx="4784973" cy="3640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43273" y="4174331"/>
            <a:ext cx="4784973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37089" y="2294037"/>
            <a:ext cx="5238304" cy="2449264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63754" y="4174331"/>
            <a:ext cx="4784973" cy="3640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63754" y="4174331"/>
            <a:ext cx="4784973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093" y="542925"/>
            <a:ext cx="911572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계산해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보기</a:t>
            </a:r>
            <a:endParaRPr sz="1111" b="0" i="0" u="none" spc="144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방향이 반대인 두 지표, 같은 공식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273" y="2498973"/>
            <a:ext cx="4784973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① 커져야 좋은 지표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273" y="2781598"/>
            <a:ext cx="104239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4161" y="2781598"/>
            <a:ext cx="36340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2020년 </a:t>
            </a:r>
            <a:r>
              <a:rPr sz="1154" b="1" i="0" u="none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72.4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273" y="3038475"/>
            <a:ext cx="104239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4161" y="3038475"/>
            <a:ext cx="36340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2030년 </a:t>
            </a:r>
            <a:r>
              <a:rPr sz="1154" b="1" i="0" u="none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95.0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273" y="3295352"/>
            <a:ext cx="104239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최신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94161" y="3295352"/>
            <a:ext cx="36340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2024년 </a:t>
            </a:r>
            <a:r>
              <a:rPr sz="1154" b="1" i="0" u="none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88.1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273" y="3617268"/>
            <a:ext cx="104239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진행률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94161" y="3617268"/>
            <a:ext cx="36340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(88.1 - 72.4) ÷ (95.0 - 72.4) = </a:t>
            </a:r>
            <a:r>
              <a:rPr sz="1154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69.5%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273" y="3874145"/>
            <a:ext cx="104239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기대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94161" y="3874145"/>
            <a:ext cx="36340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(2024 - 2020) ÷ (2030 - 2020) = </a:t>
            </a:r>
            <a:r>
              <a:rPr sz="1154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40.0%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273" y="4285952"/>
            <a:ext cx="1042392" cy="200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89"/>
              </a:lnSpc>
              <a:spcBef>
                <a:spcPts val="0"/>
              </a:spcBef>
              <a:spcAft>
                <a:spcPts val="0"/>
              </a:spcAft>
            </a:pPr>
            <a:r>
              <a:rPr sz="1325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판정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94161" y="4281488"/>
            <a:ext cx="3634085" cy="2568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89"/>
              </a:lnSpc>
              <a:spcBef>
                <a:spcPts val="0"/>
              </a:spcBef>
              <a:spcAft>
                <a:spcPts val="0"/>
              </a:spcAft>
            </a:pPr>
            <a:r>
              <a:rPr sz="132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69.5% ≥ 36.0% → </a:t>
            </a:r>
            <a:r>
              <a:rPr sz="1068" b="1" i="0" u="none">
                <a:solidFill>
                  <a:srgbClr val="1971C2"/>
                </a:solidFill>
                <a:latin typeface="Paperlogy"/>
                <a:ea typeface="Paperlogy"/>
                <a:cs typeface="Paperlogy"/>
              </a:rPr>
              <a:t>순조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3754" y="2498973"/>
            <a:ext cx="4784973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② 작아져야 좋은 지표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3754" y="2781598"/>
            <a:ext cx="104239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기준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4642" y="2781598"/>
            <a:ext cx="36340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2018년 </a:t>
            </a:r>
            <a:r>
              <a:rPr sz="1154" b="1" i="0" u="none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727.6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3754" y="3038475"/>
            <a:ext cx="104239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4642" y="3038475"/>
            <a:ext cx="36340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2030년 </a:t>
            </a:r>
            <a:r>
              <a:rPr sz="1154" b="1" i="0" u="none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436.6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3754" y="3295352"/>
            <a:ext cx="104239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최신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4642" y="3295352"/>
            <a:ext cx="36340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2023년 </a:t>
            </a:r>
            <a:r>
              <a:rPr sz="1154" b="1" i="0" u="none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624.0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3754" y="3617268"/>
            <a:ext cx="104239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진행률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4642" y="3617268"/>
            <a:ext cx="36340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(624.0 - 727.6) ÷ (436.6 - 727.6) = </a:t>
            </a:r>
            <a:r>
              <a:rPr sz="1154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35.6%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3754" y="3874145"/>
            <a:ext cx="104239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기대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4642" y="3874145"/>
            <a:ext cx="36340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(2023 - 2018) ÷ (2030 - 2018) = </a:t>
            </a:r>
            <a:r>
              <a:rPr sz="1154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41.7%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3754" y="4285952"/>
            <a:ext cx="1042392" cy="200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89"/>
              </a:lnSpc>
              <a:spcBef>
                <a:spcPts val="0"/>
              </a:spcBef>
              <a:spcAft>
                <a:spcPts val="0"/>
              </a:spcAft>
            </a:pPr>
            <a:r>
              <a:rPr sz="1325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판정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4642" y="4281488"/>
            <a:ext cx="3634085" cy="2568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89"/>
              </a:lnSpc>
              <a:spcBef>
                <a:spcPts val="0"/>
              </a:spcBef>
              <a:spcAft>
                <a:spcPts val="0"/>
              </a:spcAft>
            </a:pPr>
            <a:r>
              <a:rPr sz="132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35.6% &lt; 37.5% → </a:t>
            </a:r>
            <a:r>
              <a:rPr sz="1068" b="1" i="0" u="none">
                <a:solidFill>
                  <a:srgbClr val="E8590C"/>
                </a:solidFill>
                <a:latin typeface="Paperlogy"/>
                <a:ea typeface="Paperlogy"/>
                <a:cs typeface="Paperlogy"/>
              </a:rPr>
              <a:t>지연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6607" y="4938712"/>
            <a:ext cx="107587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음수 ÷ 음수 = 양수. 두 지표 모두 </a:t>
            </a:r>
            <a:r>
              <a:rPr sz="1154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같은 공식 한 줄</a:t>
            </a: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로 계산됩니다. (수치는 예시)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6607" y="6293048"/>
            <a:ext cx="66972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7. 계산 예시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85450" y="6293048"/>
            <a:ext cx="48994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16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629644"/>
            <a:ext cx="5238304" cy="2154436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3273" y="4296966"/>
            <a:ext cx="282178" cy="28217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12218" y="4296966"/>
            <a:ext cx="282178" cy="282178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81162" y="4296966"/>
            <a:ext cx="282178" cy="28217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50107" y="4296966"/>
            <a:ext cx="282178" cy="282178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19052" y="4296966"/>
            <a:ext cx="282178" cy="28217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87997" y="4296966"/>
            <a:ext cx="282178" cy="282178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56942" y="4296966"/>
            <a:ext cx="282178" cy="282178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5887" y="4296966"/>
            <a:ext cx="282178" cy="282178"/>
          </a:xfrm>
          <a:prstGeom prst="rect">
            <a:avLst/>
          </a:prstGeom>
          <a:solidFill>
            <a:srgbClr val="08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94832" y="4296966"/>
            <a:ext cx="282178" cy="28217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63777" y="4296966"/>
            <a:ext cx="282178" cy="282178"/>
          </a:xfrm>
          <a:prstGeom prst="rect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7089" y="2629644"/>
            <a:ext cx="5238304" cy="2154436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63754" y="4050804"/>
            <a:ext cx="616000" cy="256877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B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81775" y="4141291"/>
            <a:ext cx="75902" cy="75902"/>
          </a:xfrm>
          <a:prstGeom prst="roundRect">
            <a:avLst>
              <a:gd name="adj" fmla="val 50000"/>
            </a:avLst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66521" y="4050804"/>
            <a:ext cx="616000" cy="256877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97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284541" y="4141291"/>
            <a:ext cx="75902" cy="75902"/>
          </a:xfrm>
          <a:prstGeom prst="roundRect">
            <a:avLst>
              <a:gd name="adj" fmla="val 50000"/>
            </a:avLst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869287" y="4050804"/>
            <a:ext cx="616000" cy="256877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987308" y="4141291"/>
            <a:ext cx="75902" cy="7590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72054" y="4050804"/>
            <a:ext cx="616000" cy="256877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90074" y="4141291"/>
            <a:ext cx="75902" cy="75902"/>
          </a:xfrm>
          <a:prstGeom prst="roundRect">
            <a:avLst>
              <a:gd name="adj" fmla="val 50000"/>
            </a:avLst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274820" y="4050804"/>
            <a:ext cx="854869" cy="256877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68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392841" y="4141291"/>
            <a:ext cx="75902" cy="75902"/>
          </a:xfrm>
          <a:prstGeom prst="roundRect">
            <a:avLst>
              <a:gd name="adj" fmla="val 50000"/>
            </a:avLst>
          </a:prstGeom>
          <a:solidFill>
            <a:srgbClr val="868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216455" y="4050804"/>
            <a:ext cx="854869" cy="256877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334476" y="4141291"/>
            <a:ext cx="75902" cy="75902"/>
          </a:xfrm>
          <a:prstGeom prst="roundRect">
            <a:avLst>
              <a:gd name="adj" fmla="val 50000"/>
            </a:avLst>
          </a:prstGeom>
          <a:solidFill>
            <a:srgbClr val="ADB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092" y="542925"/>
            <a:ext cx="839013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색상 체계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다양성은 목표별로, 일관성은 상태별로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273" y="2834580"/>
            <a:ext cx="4784973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목표색 — 다양성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273" y="3073747"/>
            <a:ext cx="4784973" cy="49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색을 </a:t>
            </a:r>
            <a:r>
              <a:rPr sz="1197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하나만</a:t>
            </a: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지정하면 배경 · 보더 · 텍스트 · 그라디언트 끝색이 자동 파생되어 헤더 · 액센트 바 · 도넛 · 차트 · 필터 칩까지 전파됩니다.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273" y="3652838"/>
            <a:ext cx="4784973" cy="49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지정하지 않으면 </a:t>
            </a:r>
            <a:r>
              <a:rPr sz="1197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10색 팔레트에서 순서대로 자동 배정</a:t>
            </a: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되므로, 목표를 몇 개로 늘려도 색이 겹치지 않습니다.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3754" y="2834580"/>
            <a:ext cx="4784973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상태색 — 일관성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3754" y="3073747"/>
            <a:ext cx="4784973" cy="49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6가지 상태색은 전 화면에서 </a:t>
            </a:r>
            <a:r>
              <a:rPr sz="1197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같은 의미로만</a:t>
            </a: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쓰고 변주하지 않습니다. 같은 색이 화면마다 다른 뜻이 되면 안 되기 때문입니다.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3754" y="3652838"/>
            <a:ext cx="4784973" cy="2461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색맹 대비로 </a:t>
            </a:r>
            <a:r>
              <a:rPr sz="1197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색 + 아이콘 + 텍스트</a:t>
            </a: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를 함께 표기합니다.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2715" y="4098280"/>
            <a:ext cx="258068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 dirty="0" err="1">
                <a:solidFill>
                  <a:srgbClr val="2B8A3E"/>
                </a:solidFill>
                <a:latin typeface="Paperlogy"/>
                <a:ea typeface="Paperlogy"/>
                <a:cs typeface="Paperlogy"/>
              </a:rPr>
              <a:t>달성</a:t>
            </a:r>
            <a:endParaRPr sz="900" b="1" i="0" u="none" dirty="0">
              <a:solidFill>
                <a:srgbClr val="2B8A3E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25482" y="4098280"/>
            <a:ext cx="258068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 dirty="0" err="1">
                <a:solidFill>
                  <a:srgbClr val="1971C2"/>
                </a:solidFill>
                <a:latin typeface="Paperlogy"/>
                <a:ea typeface="Paperlogy"/>
                <a:cs typeface="Paperlogy"/>
              </a:rPr>
              <a:t>순조</a:t>
            </a:r>
            <a:endParaRPr sz="900" b="1" i="0" u="none" dirty="0">
              <a:solidFill>
                <a:srgbClr val="1971C2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128248" y="4098280"/>
            <a:ext cx="258068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E8590C"/>
                </a:solidFill>
                <a:latin typeface="Paperlogy"/>
                <a:ea typeface="Paperlogy"/>
                <a:cs typeface="Paperlogy"/>
              </a:rPr>
              <a:t>지연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31014" y="4098280"/>
            <a:ext cx="258068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C92A2A"/>
                </a:solidFill>
                <a:latin typeface="Paperlogy"/>
                <a:ea typeface="Paperlogy"/>
                <a:cs typeface="Paperlogy"/>
              </a:rPr>
              <a:t>악화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33781" y="4098280"/>
            <a:ext cx="496937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868E96"/>
                </a:solidFill>
                <a:latin typeface="Paperlogy"/>
                <a:ea typeface="Paperlogy"/>
                <a:cs typeface="Paperlogy"/>
              </a:rPr>
              <a:t>모니터링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75416" y="4098280"/>
            <a:ext cx="496937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ADB5BD"/>
                </a:solidFill>
                <a:latin typeface="Paperlogy"/>
                <a:ea typeface="Paperlogy"/>
                <a:cs typeface="Paperlogy"/>
              </a:rPr>
              <a:t>자료없음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6607" y="6293048"/>
            <a:ext cx="67359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8. 색상 체계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85450" y="6293048"/>
            <a:ext cx="48994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17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66304" y="1666577"/>
            <a:ext cx="2171849" cy="346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6304" y="2003078"/>
            <a:ext cx="2171849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38152" y="1666577"/>
            <a:ext cx="2388989" cy="346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38152" y="2003078"/>
            <a:ext cx="2388989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27141" y="1666577"/>
            <a:ext cx="6298555" cy="346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27141" y="2003078"/>
            <a:ext cx="6298555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304" y="2012603"/>
            <a:ext cx="10859393" cy="4101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304" y="2413248"/>
            <a:ext cx="10859393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304" y="2422773"/>
            <a:ext cx="10859393" cy="4101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6304" y="2823418"/>
            <a:ext cx="10859393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6304" y="2832943"/>
            <a:ext cx="10859393" cy="4101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6304" y="3233589"/>
            <a:ext cx="10859393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6304" y="3243114"/>
            <a:ext cx="10859393" cy="4101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6304" y="3643759"/>
            <a:ext cx="10859393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6304" y="3653284"/>
            <a:ext cx="10859393" cy="4101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6304" y="4053929"/>
            <a:ext cx="10859393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6304" y="4063454"/>
            <a:ext cx="10859393" cy="4101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6304" y="4464100"/>
            <a:ext cx="10859393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6304" y="4473625"/>
            <a:ext cx="10859393" cy="4101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6304" y="4874270"/>
            <a:ext cx="10859393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6304" y="5571887"/>
            <a:ext cx="70545" cy="20092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6304" y="6211044"/>
            <a:ext cx="10859393" cy="26342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6304" y="6211044"/>
            <a:ext cx="10859393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6304" y="504825"/>
            <a:ext cx="20121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1033" b="1" i="0" u="none" spc="103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636" y="479673"/>
            <a:ext cx="1617563" cy="17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1033" b="0" i="0" u="none" spc="13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데이터베이스</a:t>
            </a:r>
            <a:r>
              <a:rPr sz="1033" b="0" i="0" u="none" spc="13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033" b="0" i="0" u="none" spc="13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구조</a:t>
            </a:r>
            <a:endParaRPr sz="1033" b="0" i="0" u="none" spc="134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6304" y="737890"/>
            <a:ext cx="10859393" cy="496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911"/>
              </a:lnSpc>
              <a:spcBef>
                <a:spcPts val="0"/>
              </a:spcBef>
              <a:spcAft>
                <a:spcPts val="0"/>
              </a:spcAft>
            </a:pPr>
            <a:r>
              <a:rPr sz="3259" b="1" i="0" u="none" spc="-65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파일 하나에 표 8개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304" y="1666577"/>
            <a:ext cx="2171849" cy="346025"/>
          </a:xfrm>
          <a:prstGeom prst="rect">
            <a:avLst/>
          </a:prstGeom>
          <a:noFill/>
        </p:spPr>
        <p:txBody>
          <a:bodyPr wrap="square" lIns="121158" tIns="90868" rIns="121158" bIns="70676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914" b="0" i="0" u="none" spc="9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8152" y="1666577"/>
            <a:ext cx="2388989" cy="346025"/>
          </a:xfrm>
          <a:prstGeom prst="rect">
            <a:avLst/>
          </a:prstGeom>
          <a:noFill/>
        </p:spPr>
        <p:txBody>
          <a:bodyPr wrap="square" lIns="121158" tIns="90868" rIns="121158" bIns="70676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914" b="0" i="0" u="none" spc="9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담는 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141" y="1666577"/>
            <a:ext cx="6298555" cy="346025"/>
          </a:xfrm>
          <a:prstGeom prst="rect">
            <a:avLst/>
          </a:prstGeom>
          <a:noFill/>
        </p:spPr>
        <p:txBody>
          <a:bodyPr wrap="square" lIns="121158" tIns="90868" rIns="121158" bIns="70676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914" b="0" i="0" u="none" spc="9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주요 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304" y="2012603"/>
            <a:ext cx="2171849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1" i="0" u="none" spc="11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8152" y="2012603"/>
            <a:ext cx="2388989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모니터링 영역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7141" y="2012603"/>
            <a:ext cx="6298555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코드(주소·고유), 이름, 색, 아이콘, 순서, 공개여부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304" y="2422773"/>
            <a:ext cx="2171849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1" i="0" u="none" spc="11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Goal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8152" y="2422773"/>
            <a:ext cx="2388989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목표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27141" y="2422773"/>
            <a:ext cx="6298555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코드, 소속 영역, 표시번호, 이름, 색, 아이콘, 공개여부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304" y="2832943"/>
            <a:ext cx="2171849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1" i="0" u="none" spc="11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Target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8152" y="2832943"/>
            <a:ext cx="2388989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세부목표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27141" y="2832943"/>
            <a:ext cx="6298555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코드, 소속 목표, 이름, 설명, 순서, 공개여부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304" y="3243114"/>
            <a:ext cx="2171849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1" i="0" u="none" spc="11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Indicator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8152" y="3243114"/>
            <a:ext cx="2388989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27141" y="3243114"/>
            <a:ext cx="6298555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코드, 정의, 산출식, 단위, 방향, 기준·목표(연도/값), 출처, 갱신주기, 담당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304" y="3653284"/>
            <a:ext cx="2171849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1" i="0" u="none" spc="11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IndicatorValue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38152" y="3653284"/>
            <a:ext cx="2388989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연도별 실적값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27141" y="3653284"/>
            <a:ext cx="6298555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소속 지표, 연도, 값, 지역, 비고 — </a:t>
            </a:r>
            <a:r>
              <a:rPr sz="1113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(지표+연도+지역)이 고유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304" y="4063454"/>
            <a:ext cx="2171849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1" i="0" u="none" spc="11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Action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8152" y="4063454"/>
            <a:ext cx="2388989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이행과제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27141" y="4063454"/>
            <a:ext cx="6298555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코드, 소속 목표, 제목, 상태, 기한연도, 담당, 링크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6304" y="4473625"/>
            <a:ext cx="2171849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1" i="0" u="none" spc="11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Config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8152" y="4473625"/>
            <a:ext cx="2388989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사이트 설정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27141" y="4473625"/>
            <a:ext cx="6298555" cy="410170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키, 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6304" y="4883795"/>
            <a:ext cx="2171849" cy="405408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1" i="0" u="none" spc="11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AuditLog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8152" y="4883795"/>
            <a:ext cx="2388989" cy="405408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수정 이력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27141" y="4883795"/>
            <a:ext cx="6298555" cy="405408"/>
          </a:xfrm>
          <a:prstGeom prst="rect">
            <a:avLst/>
          </a:prstGeom>
          <a:noFill/>
        </p:spPr>
        <p:txBody>
          <a:bodyPr wrap="square" lIns="121158" tIns="90868" rIns="121158" bIns="90868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시각, 작업, 대상, 변경 상세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6304" y="5470922"/>
            <a:ext cx="10859393" cy="237232"/>
          </a:xfrm>
          <a:prstGeom prst="rect">
            <a:avLst/>
          </a:prstGeom>
          <a:noFill/>
        </p:spPr>
        <p:txBody>
          <a:bodyPr wrap="square" lIns="161544" tIns="0" rIns="0" bIns="0" anchor="t">
            <a:noAutofit/>
          </a:bodyPr>
          <a:lstStyle/>
          <a:p>
            <a:pPr algn="l">
              <a:lnSpc>
                <a:spcPts val="1867"/>
              </a:lnSpc>
              <a:spcBef>
                <a:spcPts val="0"/>
              </a:spcBef>
              <a:spcAft>
                <a:spcPts val="0"/>
              </a:spcAft>
            </a:pPr>
            <a:r>
              <a:rPr sz="1152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연쇄 삭제</a:t>
            </a:r>
            <a:r>
              <a:rPr sz="1152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— 영역을 지우면 하위가 함께 사라지지만, 이행과제는 </a:t>
            </a:r>
            <a:r>
              <a:rPr sz="1152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남고 연결만 끊깁니다.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6304" y="6331595"/>
            <a:ext cx="1058019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4"/>
              </a:lnSpc>
              <a:spcBef>
                <a:spcPts val="0"/>
              </a:spcBef>
              <a:spcAft>
                <a:spcPts val="0"/>
              </a:spcAft>
            </a:pPr>
            <a:r>
              <a:rPr sz="914" b="0" i="0" u="none" spc="46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9. 데이터베이스 구조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70134" y="6331595"/>
            <a:ext cx="455563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4"/>
              </a:lnSpc>
              <a:spcBef>
                <a:spcPts val="0"/>
              </a:spcBef>
              <a:spcAft>
                <a:spcPts val="0"/>
              </a:spcAft>
            </a:pPr>
            <a:r>
              <a:rPr sz="914" b="0" i="0" u="none" spc="46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18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3207931"/>
            <a:ext cx="75902" cy="2158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6607" y="3815447"/>
            <a:ext cx="75902" cy="2158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13190" y="1820763"/>
            <a:ext cx="4762054" cy="2378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13190" y="2049066"/>
            <a:ext cx="4762054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13190" y="2177951"/>
            <a:ext cx="4762054" cy="29817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13190" y="2177951"/>
            <a:ext cx="4762054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13190" y="2187476"/>
            <a:ext cx="4762054" cy="42460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13190" y="2602557"/>
            <a:ext cx="4762054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13190" y="2612082"/>
            <a:ext cx="4762054" cy="42460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13190" y="3027164"/>
            <a:ext cx="4762054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13190" y="3036689"/>
            <a:ext cx="4762054" cy="42460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13190" y="3451771"/>
            <a:ext cx="4762054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13190" y="3461296"/>
            <a:ext cx="4762054" cy="42460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13190" y="3876377"/>
            <a:ext cx="4762054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13190" y="3885902"/>
            <a:ext cx="4762054" cy="42460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13190" y="4300984"/>
            <a:ext cx="4762054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13190" y="4310509"/>
            <a:ext cx="4762054" cy="42460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13190" y="4725591"/>
            <a:ext cx="4762054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13190" y="4735116"/>
            <a:ext cx="4762054" cy="42460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13190" y="5150197"/>
            <a:ext cx="4762054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093" y="542925"/>
            <a:ext cx="686544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CSV 왕복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내보낸 파일을 그대로 다시 올릴 수 있어야 한다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607" y="3099346"/>
            <a:ext cx="5714405" cy="509885"/>
          </a:xfrm>
          <a:prstGeom prst="rect">
            <a:avLst/>
          </a:prstGeom>
          <a:noFill/>
        </p:spPr>
        <p:txBody>
          <a:bodyPr wrap="square" lIns="173736" tIns="0" rIns="0" bIns="0" anchor="t">
            <a:noAutofit/>
          </a:bodyPr>
          <a:lstStyle/>
          <a:p>
            <a:pPr algn="l">
              <a:lnSpc>
                <a:spcPts val="2008"/>
              </a:lnSpc>
              <a:spcBef>
                <a:spcPts val="0"/>
              </a:spcBef>
              <a:spcAft>
                <a:spcPts val="0"/>
              </a:spcAft>
            </a:pPr>
            <a:r>
              <a:rPr sz="1239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가져오기</a:t>
            </a: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— 고유번호 기준으로 있으면 덮어쓰고 없으면 생성. </a:t>
            </a:r>
            <a:r>
              <a:rPr sz="1239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탭 구분 자동 감지</a:t>
            </a:r>
            <a:r>
              <a:rPr sz="1239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. 한 줄이 잘못돼도 전체가 중단되지 않고 “몇 행에서 왜 실패했는지”를 알려줍니다.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607" y="3706862"/>
            <a:ext cx="5714405" cy="254943"/>
          </a:xfrm>
          <a:prstGeom prst="rect">
            <a:avLst/>
          </a:prstGeom>
          <a:noFill/>
        </p:spPr>
        <p:txBody>
          <a:bodyPr wrap="square" lIns="173736" tIns="0" rIns="0" bIns="0" anchor="t">
            <a:noAutofit/>
          </a:bodyPr>
          <a:lstStyle/>
          <a:p>
            <a:pPr algn="l">
              <a:lnSpc>
                <a:spcPts val="2008"/>
              </a:lnSpc>
              <a:spcBef>
                <a:spcPts val="0"/>
              </a:spcBef>
              <a:spcAft>
                <a:spcPts val="0"/>
              </a:spcAft>
            </a:pPr>
            <a:r>
              <a:rPr sz="1239" b="1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내보내기</a:t>
            </a:r>
            <a:r>
              <a:rPr sz="1239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— </a:t>
            </a:r>
            <a:r>
              <a:rPr sz="1239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엑셀에서</a:t>
            </a:r>
            <a:r>
              <a:rPr sz="1239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39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한글이</a:t>
            </a:r>
            <a:r>
              <a:rPr sz="1239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39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깨지지</a:t>
            </a:r>
            <a:r>
              <a:rPr sz="1239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39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않도록</a:t>
            </a:r>
            <a:r>
              <a:rPr sz="1239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39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처리하고</a:t>
            </a:r>
            <a:r>
              <a:rPr sz="1239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, </a:t>
            </a:r>
            <a:r>
              <a:rPr sz="1239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영역별</a:t>
            </a:r>
            <a:r>
              <a:rPr sz="1239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39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필터</a:t>
            </a:r>
            <a:r>
              <a:rPr sz="1239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39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내려받기가</a:t>
            </a:r>
            <a:r>
              <a:rPr sz="1239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39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됩니다</a:t>
            </a:r>
            <a:r>
              <a:rPr sz="1239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3190" y="1820763"/>
            <a:ext cx="4762054" cy="237827"/>
          </a:xfrm>
          <a:prstGeom prst="rect">
            <a:avLst/>
          </a:prstGeom>
          <a:noFill/>
        </p:spPr>
        <p:txBody>
          <a:bodyPr wrap="square" lIns="0" tIns="0" rIns="0" bIns="7601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 u="none" spc="123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업로드 순서 — 상위부터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4770" y="2285107"/>
            <a:ext cx="1302990" cy="2198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154" b="1" i="0" u="none" spc="-12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9714" y="2285107"/>
            <a:ext cx="3263950" cy="2198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모니터링 영역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4770" y="2709714"/>
            <a:ext cx="1302990" cy="2198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154" b="1" i="0" u="none" spc="-12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9714" y="2709714"/>
            <a:ext cx="3263950" cy="2198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목표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4770" y="3134320"/>
            <a:ext cx="1302990" cy="2198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154" b="1" i="0" u="none" spc="-12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9714" y="3134320"/>
            <a:ext cx="3263950" cy="2198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세부목표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4770" y="3558927"/>
            <a:ext cx="1302990" cy="2198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154" b="1" i="0" u="none" spc="-12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9714" y="3558927"/>
            <a:ext cx="3263950" cy="2198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지표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34770" y="3983534"/>
            <a:ext cx="1302990" cy="2198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154" b="1" i="0" u="none" spc="-12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9714" y="3983534"/>
            <a:ext cx="3263950" cy="2198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실적값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34770" y="4408140"/>
            <a:ext cx="1302990" cy="2198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154" b="1" i="0" u="none" spc="-12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9714" y="4408140"/>
            <a:ext cx="3263950" cy="2198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이행과제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34770" y="4832747"/>
            <a:ext cx="1302990" cy="2198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154" b="1" i="0" u="none" spc="-12">
                <a:solidFill>
                  <a:srgbClr val="0CA678"/>
                </a:solidFill>
                <a:latin typeface="Paperlogy"/>
                <a:ea typeface="Paperlogy"/>
                <a:cs typeface="Paperlogy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9714" y="4832747"/>
            <a:ext cx="3263950" cy="2198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사이트 설정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13190" y="5289947"/>
            <a:ext cx="4762054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상위 항목이 먼저 있어야 참조가 연결됩니다.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6607" y="6293048"/>
            <a:ext cx="80516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10. CSV 왕복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85450" y="6293048"/>
            <a:ext cx="48994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19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B4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014538"/>
            <a:ext cx="2151757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6607" y="2376785"/>
            <a:ext cx="2151757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68364" y="2014538"/>
            <a:ext cx="3442692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68364" y="2376785"/>
            <a:ext cx="3442692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11057" y="2014538"/>
            <a:ext cx="5164336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11057" y="2376785"/>
            <a:ext cx="5164336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6607" y="2386310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6607" y="2817019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6607" y="2826544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6607" y="3257252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6607" y="3266777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6607" y="3697486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6607" y="3707011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6607" y="4137720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6607" y="4147245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6607" y="457795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092" y="542925"/>
            <a:ext cx="741737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기술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스택</a:t>
            </a:r>
            <a:endParaRPr sz="1111" b="0" i="0" u="none" spc="144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무엇으로 만들어졌나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607" y="2014538"/>
            <a:ext cx="2151757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68364" y="2014538"/>
            <a:ext cx="3442692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기술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1057" y="2014538"/>
            <a:ext cx="5164336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고른 이유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607" y="2386310"/>
            <a:ext cx="2151757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웹 프레임워크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68364" y="2386310"/>
            <a:ext cx="3442692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Next.js 15 + React 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1057" y="2386310"/>
            <a:ext cx="5164336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화면과 서버 기능을 한 프로젝트에서. 폼에서 데이터베이스로 바로 연결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607" y="2826544"/>
            <a:ext cx="2151757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언어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68364" y="2826544"/>
            <a:ext cx="3442692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TypeScript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1057" y="2826544"/>
            <a:ext cx="5164336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실행 전에 형 오류를 잡음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607" y="3266777"/>
            <a:ext cx="2151757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데이터베이스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8364" y="3266777"/>
            <a:ext cx="3442692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SQLite + Prisma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1057" y="3266777"/>
            <a:ext cx="5164336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파일 하나면 끝. 다른 데이터베이스로 전환도 변경 최소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607" y="3707011"/>
            <a:ext cx="2151757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스타일 · 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68364" y="3707011"/>
            <a:ext cx="3442692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Tailwind CSS v4 · shadcn/ui v4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1057" y="3707011"/>
            <a:ext cx="5164336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부품을 소스로 들고 있어 자유롭게 수정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607" y="4147245"/>
            <a:ext cx="2151757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차트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68364" y="4147245"/>
            <a:ext cx="3442692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Recharts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1057" y="4147245"/>
            <a:ext cx="5164336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시계열 그래프. 첫 로딩이 무거워지지 않게 지연 로딩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6607" y="4587478"/>
            <a:ext cx="2151757" cy="4354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기타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68364" y="4587478"/>
            <a:ext cx="3442692" cy="4354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lucide-react · sonner · papaparse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1057" y="4587478"/>
            <a:ext cx="5164336" cy="4354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아이콘 · 알림 · CSV 파싱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607" y="5218361"/>
            <a:ext cx="107587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실행 환경 — Node.js 20 이상 권장.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6607" y="6293048"/>
            <a:ext cx="76304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11. 기술 스택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85450" y="6293048"/>
            <a:ext cx="48994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20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B4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422773"/>
            <a:ext cx="2366814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6607" y="2785021"/>
            <a:ext cx="2366814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83421" y="2422773"/>
            <a:ext cx="8391971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83421" y="2785021"/>
            <a:ext cx="8391971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6607" y="2794546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6607" y="3225254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6607" y="3234779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6607" y="3665488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6607" y="3675013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6607" y="4105721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6607" y="4115246"/>
            <a:ext cx="10758785" cy="4402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6607" y="4545955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093" y="542925"/>
            <a:ext cx="1182724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자주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하는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작업</a:t>
            </a:r>
            <a:endParaRPr sz="1111" b="0" i="0" u="none" spc="144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담당자가 실제로 하게 될 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607" y="2422773"/>
            <a:ext cx="2366814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하려는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3421" y="2422773"/>
            <a:ext cx="8391971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607" y="2794546"/>
            <a:ext cx="2366814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 추가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3421" y="2794546"/>
            <a:ext cx="8391971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 목록 → 「지표 추가」 → 소속 세부목표·번호·이름·단위·방향 → 기준/목표 → 저장 → 실적값 입력 → 「공개」 체크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607" y="3234779"/>
            <a:ext cx="2366814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실적값 갱신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83421" y="3234779"/>
            <a:ext cx="8391971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 편집 화면의 실적값 표에서 연도·값 추가. 최신값·진행률·상태·차트가 즉시 갱신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607" y="3675013"/>
            <a:ext cx="2366814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엑셀로 일괄 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83421" y="3675013"/>
            <a:ext cx="8391971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가져오기 화면에서 「실적값」 선택 → 엑셀에서 복사·붙여넣기 → 올리기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607" y="4115246"/>
            <a:ext cx="2366814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영역 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83421" y="4115246"/>
            <a:ext cx="8391971" cy="4402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계층 관리 → 「영역 추가」 → 주소 코드·이름·아이콘·색. 저장하면 </a:t>
            </a: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메뉴와 주소가 자동 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607" y="4555480"/>
            <a:ext cx="2366814" cy="4354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임시로 감추기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83421" y="4555480"/>
            <a:ext cx="8391971" cy="4354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 목록의 눈 아이콘 클릭. 데이터는 남고 공개 화면에서만 사라짐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607" y="6293048"/>
            <a:ext cx="1036141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12. 자주 하는 작업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85450" y="6293048"/>
            <a:ext cx="48994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21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B4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8805" y="1724323"/>
            <a:ext cx="10834390" cy="5755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8805" y="2290316"/>
            <a:ext cx="108343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8805" y="1724323"/>
            <a:ext cx="308520" cy="2308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</a:pPr>
            <a:r>
              <a:rPr sz="1214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805" y="2412950"/>
            <a:ext cx="10834390" cy="5755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8805" y="2978944"/>
            <a:ext cx="108343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8805" y="2412950"/>
            <a:ext cx="308520" cy="2308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</a:pPr>
            <a:r>
              <a:rPr sz="1214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805" y="3101578"/>
            <a:ext cx="10834390" cy="5755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8805" y="3667571"/>
            <a:ext cx="108343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8805" y="3101578"/>
            <a:ext cx="308520" cy="2308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</a:pPr>
            <a:r>
              <a:rPr sz="1214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8805" y="3790206"/>
            <a:ext cx="10834390" cy="5755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8805" y="4356199"/>
            <a:ext cx="108343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8805" y="3790206"/>
            <a:ext cx="308520" cy="2308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</a:pPr>
            <a:r>
              <a:rPr sz="1214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805" y="4478834"/>
            <a:ext cx="308520" cy="2308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</a:pPr>
            <a:r>
              <a:rPr sz="1214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8805" y="5116860"/>
            <a:ext cx="10834390" cy="552896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8805" y="5116860"/>
            <a:ext cx="10834390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503670" y="5116860"/>
            <a:ext cx="9525" cy="552896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8805" y="5660231"/>
            <a:ext cx="10834390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8805" y="5116860"/>
            <a:ext cx="38100" cy="552896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8805" y="6201668"/>
            <a:ext cx="10834390" cy="2655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8805" y="6201668"/>
            <a:ext cx="108343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8805" y="514350"/>
            <a:ext cx="20508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1"/>
              </a:lnSpc>
              <a:spcBef>
                <a:spcPts val="0"/>
              </a:spcBef>
              <a:spcAft>
                <a:spcPts val="0"/>
              </a:spcAft>
            </a:pPr>
            <a:r>
              <a:rPr sz="1053" b="1" i="0" u="none" spc="105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7537" y="514350"/>
            <a:ext cx="1167943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1"/>
              </a:lnSpc>
              <a:spcBef>
                <a:spcPts val="0"/>
              </a:spcBef>
              <a:spcAft>
                <a:spcPts val="0"/>
              </a:spcAft>
            </a:pPr>
            <a:r>
              <a:rPr sz="1053" b="0" i="0" u="none" spc="137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최종</a:t>
            </a:r>
            <a:r>
              <a:rPr sz="1053" b="0" i="0" u="none" spc="137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053" b="0" i="0" u="none" spc="137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목표</a:t>
            </a:r>
            <a:endParaRPr sz="1053" b="0" i="0" u="none" spc="137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8805" y="758428"/>
            <a:ext cx="10834390" cy="506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985"/>
              </a:lnSpc>
              <a:spcBef>
                <a:spcPts val="0"/>
              </a:spcBef>
              <a:spcAft>
                <a:spcPts val="0"/>
              </a:spcAft>
            </a:pPr>
            <a:r>
              <a:rPr sz="3321" b="1" i="0" u="none" spc="-66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자체 계획지표로 전환하기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1243" y="1724323"/>
            <a:ext cx="10381952" cy="200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4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계층 명칭 변경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1243" y="1955155"/>
            <a:ext cx="10381952" cy="2220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사이트 설정에서 「부문 / 추진전략 / 계획지표」처럼 계획 체계에 맞게 바꿉니다.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1243" y="2412950"/>
            <a:ext cx="10381952" cy="200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4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사이트 정보 변경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1243" y="2643783"/>
            <a:ext cx="10381952" cy="2220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제목 · 부제 · 지표 체계 이름 · 기관명.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1243" y="3101578"/>
            <a:ext cx="10381952" cy="200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4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CSV로 일괄 투입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1243" y="3332411"/>
            <a:ext cx="10381952" cy="2220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영역 → 목표 → 세부목표 → 지표 → 실적값 → 이행과제 순서로 올립니다.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1243" y="3790206"/>
            <a:ext cx="10381952" cy="200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4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예시 데이터 정리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1243" y="4021038"/>
            <a:ext cx="10381952" cy="2220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삭제하거나 「기존 데이터를 모두 지우고 넣기」 옵션을 사용합니다.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1243" y="4478834"/>
            <a:ext cx="10381952" cy="200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4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미리보기 확인 후 공개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1243" y="4709666"/>
            <a:ext cx="10381952" cy="2220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09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임시저장 항목까지 포함해 공개 화면과 동일하게 확인합니다.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805" y="5116860"/>
            <a:ext cx="10834390" cy="552896"/>
          </a:xfrm>
          <a:prstGeom prst="rect">
            <a:avLst/>
          </a:prstGeom>
          <a:noFill/>
        </p:spPr>
        <p:txBody>
          <a:bodyPr wrap="square" lIns="243840" tIns="153543" rIns="205740" bIns="144018" anchor="t">
            <a:noAutofit/>
          </a:bodyPr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</a:pPr>
            <a:r>
              <a:rPr sz="1174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이 과정에 프로그램 수정은 없습니다.</a:t>
            </a:r>
            <a:r>
              <a:rPr sz="1174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그것이 이 사이트의 설계 목적입니다.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805" y="6324302"/>
            <a:ext cx="1260242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 u="none" spc="47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12. </a:t>
            </a:r>
            <a:r>
              <a:rPr sz="931" b="0" i="0" u="none" spc="47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자주</a:t>
            </a:r>
            <a:r>
              <a:rPr sz="931" b="0" i="0" u="none" spc="47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931" b="0" i="0" u="none" spc="47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하는</a:t>
            </a:r>
            <a:r>
              <a:rPr sz="931" b="0" i="0" u="none" spc="47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931" b="0" i="0" u="none" spc="47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작업</a:t>
            </a:r>
            <a:endParaRPr sz="931" b="0" i="0" u="none" spc="47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049446" y="6324302"/>
            <a:ext cx="463748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 u="none" spc="47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22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B4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353121"/>
            <a:ext cx="5303341" cy="120803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6607" y="2353121"/>
            <a:ext cx="5303341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10424" y="2353121"/>
            <a:ext cx="9525" cy="1208038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6607" y="3551634"/>
            <a:ext cx="5303341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6607" y="2353121"/>
            <a:ext cx="38100" cy="1208038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1902" y="2353121"/>
            <a:ext cx="5303490" cy="120803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1902" y="2353121"/>
            <a:ext cx="53034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65868" y="2353121"/>
            <a:ext cx="9525" cy="1208038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1902" y="3551634"/>
            <a:ext cx="53034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1902" y="2353121"/>
            <a:ext cx="38100" cy="120803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6607" y="3713113"/>
            <a:ext cx="5303341" cy="9712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6607" y="3713113"/>
            <a:ext cx="5303341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10424" y="3713113"/>
            <a:ext cx="9525" cy="97125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6607" y="4674840"/>
            <a:ext cx="5303341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6607" y="3713113"/>
            <a:ext cx="38100" cy="971252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1902" y="3713113"/>
            <a:ext cx="5303490" cy="9712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1902" y="3713113"/>
            <a:ext cx="53034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465868" y="3713113"/>
            <a:ext cx="9525" cy="97125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1902" y="4674840"/>
            <a:ext cx="5303490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1902" y="3713113"/>
            <a:ext cx="38100" cy="971252"/>
          </a:xfrm>
          <a:prstGeom prst="rect">
            <a:avLst/>
          </a:prstGeom>
          <a:solidFill>
            <a:srgbClr val="868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092" y="542925"/>
            <a:ext cx="1292971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주의사항과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한계</a:t>
            </a:r>
            <a:endParaRPr sz="1111" b="0" i="0" u="none" spc="144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공개 전 반드시 확인할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848" y="2558058"/>
            <a:ext cx="4821436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수치는 형식 예시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848" y="2863900"/>
            <a:ext cx="4821436" cy="49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현재 값은 형식 견본이며 실제 공식 통계와 다릅니다. 대외 공개 전 수치 검수·교체가 필요하고, 화면 푸터의 경고 문구를 </a:t>
            </a:r>
            <a:r>
              <a:rPr sz="1197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제거하지 마세요.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7143" y="2558058"/>
            <a:ext cx="4821585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배포 전 비밀번호 교체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7143" y="2863900"/>
            <a:ext cx="4821585" cy="2461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관리자 비밀번호와 세션 비밀키를 반드시 변경합니다.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848" y="3918049"/>
            <a:ext cx="4821436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값 없음 ≠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848" y="4223891"/>
            <a:ext cx="4821436" cy="2555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값이 없으면 빈 칸으로 둡니다. </a:t>
            </a:r>
            <a:r>
              <a:rPr sz="1149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0</a:t>
            </a: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은 “실제로 0”이라는 뜻입니다.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7143" y="3918049"/>
            <a:ext cx="4821585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계정 구분 없음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7143" y="4223891"/>
            <a:ext cx="4821585" cy="2461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공용 비밀번호 1개입니다. “누가”가 아니라 </a:t>
            </a:r>
            <a:r>
              <a:rPr sz="1197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“무엇이 언제”</a:t>
            </a: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만 남습니다.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607" y="4879777"/>
            <a:ext cx="107587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v1.0 범위 밖</a:t>
            </a: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— 계정별 로그인·권한 분리 / 시도별 지역 분해 화면 / 지표↔이행과제의 강한 연결 / 자동화 테스트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607" y="6293048"/>
            <a:ext cx="1111448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13. </a:t>
            </a:r>
            <a:r>
              <a:rPr sz="983" b="0" i="0" u="none" spc="49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주의사항과</a:t>
            </a:r>
            <a:r>
              <a:rPr sz="983" b="0" i="0" u="none" spc="49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983" b="0" i="0" u="none" spc="49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한계</a:t>
            </a:r>
            <a:endParaRPr sz="983" b="0" i="0" u="none" spc="49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985450" y="6293048"/>
            <a:ext cx="48994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23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B4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2248346"/>
            <a:ext cx="3873103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6607" y="2610594"/>
            <a:ext cx="3873103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89711" y="2248346"/>
            <a:ext cx="1506141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89711" y="2610594"/>
            <a:ext cx="1506141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51" y="2248346"/>
            <a:ext cx="5379541" cy="3717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5851" y="2610594"/>
            <a:ext cx="5379541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6607" y="2620119"/>
            <a:ext cx="10758785" cy="5100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6607" y="3120628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6607" y="3130153"/>
            <a:ext cx="10758785" cy="5100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6607" y="3630662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6607" y="3640187"/>
            <a:ext cx="10758785" cy="5100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6607" y="4140696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6607" y="4150221"/>
            <a:ext cx="10758785" cy="5100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6607" y="4650730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093" y="542925"/>
            <a:ext cx="1584801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앞으로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할 수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있는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확장 지점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607" y="2248346"/>
            <a:ext cx="3873103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항목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9711" y="2248346"/>
            <a:ext cx="1506141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난이도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51" y="2248346"/>
            <a:ext cx="5379541" cy="371773"/>
          </a:xfrm>
          <a:prstGeom prst="rect">
            <a:avLst/>
          </a:prstGeom>
          <a:noFill/>
        </p:spPr>
        <p:txBody>
          <a:bodyPr wrap="square" lIns="130302" tIns="97726" rIns="130302" bIns="7601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98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비고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607" y="2620119"/>
            <a:ext cx="3873103" cy="5100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자체 계획지표로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9711" y="2620119"/>
            <a:ext cx="1506141" cy="5100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068" b="1" i="0" u="none">
                <a:solidFill>
                  <a:srgbClr val="2B8A3E"/>
                </a:solidFill>
                <a:latin typeface="Paperlogy"/>
                <a:ea typeface="Paperlogy"/>
                <a:cs typeface="Paperlogy"/>
              </a:rPr>
              <a:t>낮음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51" y="2620119"/>
            <a:ext cx="5379541" cy="5100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코드 수정 없음</a:t>
            </a: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— 앞 장 절차대로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607" y="3130153"/>
            <a:ext cx="3873103" cy="5100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전체</a:t>
            </a:r>
            <a:r>
              <a:rPr sz="1197" b="1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1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지표·통계</a:t>
            </a:r>
            <a:r>
              <a:rPr sz="1197" b="1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↔ </a:t>
            </a:r>
            <a:r>
              <a:rPr sz="1197" b="1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파일</a:t>
            </a:r>
            <a:r>
              <a:rPr sz="1197" b="1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1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일괄</a:t>
            </a:r>
            <a:r>
              <a:rPr sz="1197" b="1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1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연계</a:t>
            </a:r>
            <a:endParaRPr sz="1197" b="1" i="0" u="none" dirty="0">
              <a:solidFill>
                <a:srgbClr val="0E1620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89711" y="3130153"/>
            <a:ext cx="1506141" cy="5100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>
              <a:lnSpc>
                <a:spcPts val="1855"/>
              </a:lnSpc>
            </a:pPr>
            <a:r>
              <a:rPr lang="ko-KR" altLang="en-US" sz="1068" b="1" i="0" u="none" dirty="0">
                <a:solidFill>
                  <a:srgbClr val="E8590C"/>
                </a:solidFill>
                <a:latin typeface="Paperlogy"/>
                <a:ea typeface="Paperlogy"/>
                <a:cs typeface="Paperlogy"/>
              </a:rPr>
              <a:t>높음</a:t>
            </a:r>
          </a:p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endParaRPr sz="1068" b="1" i="0" u="none" dirty="0">
              <a:solidFill>
                <a:srgbClr val="1971C2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95851" y="3130153"/>
            <a:ext cx="5480064" cy="5100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구조</a:t>
            </a: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설계가</a:t>
            </a: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먼저</a:t>
            </a: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필요</a:t>
            </a: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. </a:t>
            </a: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정해지면</a:t>
            </a: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지표·통계</a:t>
            </a: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전체를</a:t>
            </a: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파일</a:t>
            </a: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하나로</a:t>
            </a: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1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일괄</a:t>
            </a:r>
            <a:r>
              <a:rPr sz="1197" b="1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1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등록·갱신</a:t>
            </a:r>
            <a:endParaRPr sz="1197" b="1" i="0" u="none" dirty="0">
              <a:solidFill>
                <a:srgbClr val="0E1620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16607" y="3640187"/>
            <a:ext cx="3873103" cy="5100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지역(시도)별 지표 분해 화면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9711" y="3640187"/>
            <a:ext cx="1506141" cy="5100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68" b="1" i="0" u="none" dirty="0">
                <a:solidFill>
                  <a:srgbClr val="E8590C"/>
                </a:solidFill>
                <a:latin typeface="Paperlogy"/>
                <a:ea typeface="Paperlogy"/>
                <a:cs typeface="Paperlogy"/>
              </a:rPr>
              <a:t>높음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51" y="3640187"/>
            <a:ext cx="5379541" cy="5100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GIS 기능 + 데이터 스키마 등 추가 필요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607" y="4150221"/>
            <a:ext cx="3873103" cy="5100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 ↔ 이행과제 연결 강화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9711" y="4150221"/>
            <a:ext cx="1506141" cy="5100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068" b="1" i="0" u="none">
                <a:solidFill>
                  <a:srgbClr val="1971C2"/>
                </a:solidFill>
                <a:latin typeface="Paperlogy"/>
                <a:ea typeface="Paperlogy"/>
                <a:cs typeface="Paperlogy"/>
              </a:rPr>
              <a:t>중간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5851" y="4150221"/>
            <a:ext cx="5379541" cy="510034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“이 </a:t>
            </a: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지표를</a:t>
            </a: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올리기</a:t>
            </a: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위한</a:t>
            </a: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과제</a:t>
            </a: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” </a:t>
            </a: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관계</a:t>
            </a:r>
            <a:r>
              <a:rPr sz="1197" b="0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97" b="0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표시</a:t>
            </a:r>
            <a:endParaRPr sz="1197" b="0" i="0" u="none" dirty="0">
              <a:solidFill>
                <a:srgbClr val="0E1620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6607" y="4660255"/>
            <a:ext cx="3873103" cy="5052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외부 통계 자동 수집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89711" y="4660255"/>
            <a:ext cx="1506141" cy="5052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068" b="1" i="0" u="none" dirty="0" err="1">
                <a:solidFill>
                  <a:srgbClr val="E8590C"/>
                </a:solidFill>
                <a:latin typeface="Paperlogy"/>
                <a:ea typeface="Paperlogy"/>
                <a:cs typeface="Paperlogy"/>
              </a:rPr>
              <a:t>높음</a:t>
            </a:r>
            <a:endParaRPr sz="1068" b="1" i="0" u="none" dirty="0">
              <a:solidFill>
                <a:srgbClr val="E8590C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95851" y="4660255"/>
            <a:ext cx="5379541" cy="505271"/>
          </a:xfrm>
          <a:prstGeom prst="rect">
            <a:avLst/>
          </a:prstGeom>
          <a:noFill/>
        </p:spPr>
        <p:txBody>
          <a:bodyPr wrap="square" lIns="130302" tIns="97726" rIns="130302" bIns="97726" anchor="t">
            <a:noAutofit/>
          </a:bodyPr>
          <a:lstStyle/>
          <a:p>
            <a:pPr algn="l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갱신주기·출처가 이미 기록되어 있어 확장 지점은 있음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6607" y="6293048"/>
            <a:ext cx="156615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14. </a:t>
            </a:r>
            <a:r>
              <a:rPr sz="983" b="0" i="0" u="none" spc="49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앞으로</a:t>
            </a:r>
            <a:r>
              <a:rPr sz="983" b="0" i="0" u="none" spc="49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할 수 </a:t>
            </a:r>
            <a:r>
              <a:rPr sz="983" b="0" i="0" u="none" spc="49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있는</a:t>
            </a:r>
            <a:r>
              <a:rPr sz="983" b="0" i="0" u="none" spc="49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85450" y="6293048"/>
            <a:ext cx="48994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24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607" y="1995488"/>
            <a:ext cx="3484959" cy="1447205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53520" y="1995488"/>
            <a:ext cx="3484959" cy="1447205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90433" y="1995488"/>
            <a:ext cx="3484959" cy="1447205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6607" y="3594646"/>
            <a:ext cx="3484959" cy="1447205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53520" y="3594646"/>
            <a:ext cx="3484959" cy="1447205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6607" y="6164163"/>
            <a:ext cx="10758785" cy="2812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6607" y="6164163"/>
            <a:ext cx="10758785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6607" y="542925"/>
            <a:ext cx="216396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 spc="11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092" y="542925"/>
            <a:ext cx="1331881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참고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·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이용자</a:t>
            </a:r>
            <a:r>
              <a:rPr sz="1111" b="0" i="0" u="none" spc="14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111" b="0" i="0" u="none" spc="14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화면</a:t>
            </a:r>
            <a:endParaRPr sz="1111" b="0" i="0" u="none" spc="144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6607" y="791617"/>
            <a:ext cx="10758785" cy="53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6"/>
              </a:lnSpc>
              <a:spcBef>
                <a:spcPts val="0"/>
              </a:spcBef>
              <a:spcAft>
                <a:spcPts val="0"/>
              </a:spcAft>
            </a:pPr>
            <a:r>
              <a:rPr sz="3505" b="1" i="0" u="none" spc="-7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이용자가 보는 다섯 화면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273" y="2200424"/>
            <a:ext cx="3031629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273" y="2439591"/>
            <a:ext cx="3031629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통합 현황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273" y="2745432"/>
            <a:ext cx="3031629" cy="49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영역색 띠 · 전체 평균 달성도 · 상태별 집계 · 영역 카드(도넛·분포 막대) · 지연·악화 지표 모음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0186" y="2200424"/>
            <a:ext cx="3031629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/[track]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0186" y="2439591"/>
            <a:ext cx="3031629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영역 개요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0186" y="2745432"/>
            <a:ext cx="3031629" cy="49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영역 평균 달성도 · 상태별 집계 · </a:t>
            </a:r>
            <a:r>
              <a:rPr sz="1197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목표별 카드</a:t>
            </a: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(클릭 시 그 목표만 필터)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7098" y="2200424"/>
            <a:ext cx="3031629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/[track]/indicators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098" y="2439591"/>
            <a:ext cx="3031629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 탐색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7098" y="2745432"/>
            <a:ext cx="3031629" cy="49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목표·상태 칩 필터 · 통합 검색 · 4가지 정렬 · </a:t>
            </a:r>
            <a:r>
              <a:rPr sz="1197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상세 드로어</a:t>
            </a: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(시계열 차트·원자료 CSV)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273" y="3799582"/>
            <a:ext cx="3031629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/[track]/actions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273" y="4038749"/>
            <a:ext cx="3031629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이행과제 트래커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273" y="4344591"/>
            <a:ext cx="3031629" cy="49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상태 4종 집계 · 목표별 아코디언 · 요약문 + 근거 링크. </a:t>
            </a:r>
            <a:r>
              <a:rPr sz="1197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과제 0건이면 탭이 없습니다.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0186" y="3799582"/>
            <a:ext cx="3031629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 u="none" spc="72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/[track]/data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0186" y="4038749"/>
            <a:ext cx="3031629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 u="none" spc="-2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데이터 · 방법론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0186" y="4344591"/>
            <a:ext cx="3031629" cy="49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계산식과 판정 기준 · 지표 메타데이터 전체 표 · 영역별 CSV 내려받기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607" y="5237262"/>
            <a:ext cx="1075878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딥링크 — </a:t>
            </a:r>
            <a:r>
              <a:rPr sz="1108" b="1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?goal=</a:t>
            </a: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은 해당 목표만 필터, </a:t>
            </a:r>
            <a:r>
              <a:rPr sz="1108" b="1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?indicator=</a:t>
            </a:r>
            <a:r>
              <a:rPr sz="1154" b="0" i="0" u="none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는 상세 드로어가 열린 채로 시작합니다.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607" y="6293048"/>
            <a:ext cx="1397538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15. (</a:t>
            </a:r>
            <a:r>
              <a:rPr sz="983" b="0" i="0" u="none" spc="49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참고</a:t>
            </a:r>
            <a:r>
              <a:rPr sz="983" b="0" i="0" u="none" spc="49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) </a:t>
            </a:r>
            <a:r>
              <a:rPr sz="983" b="0" i="0" u="none" spc="49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이용자</a:t>
            </a:r>
            <a:r>
              <a:rPr sz="983" b="0" i="0" u="none" spc="49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983" b="0" i="0" u="none" spc="49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화면</a:t>
            </a:r>
            <a:endParaRPr sz="983" b="0" i="0" u="none" spc="49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985450" y="6293048"/>
            <a:ext cx="489942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sz="983" b="0" i="0" u="none" spc="49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25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66304" y="1629221"/>
            <a:ext cx="3525589" cy="1354336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33131" y="1629221"/>
            <a:ext cx="3525589" cy="1354336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99958" y="1629221"/>
            <a:ext cx="3525738" cy="1354336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6304" y="3124795"/>
            <a:ext cx="3525589" cy="1354336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33131" y="3124795"/>
            <a:ext cx="3525589" cy="1354336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99958" y="3124795"/>
            <a:ext cx="3525738" cy="1354336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304" y="4620369"/>
            <a:ext cx="3525589" cy="1125289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3131" y="4620369"/>
            <a:ext cx="3525589" cy="1125289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99958" y="4620369"/>
            <a:ext cx="3525738" cy="1125289"/>
          </a:xfrm>
          <a:prstGeom prst="rect">
            <a:avLst/>
          </a:prstGeom>
          <a:solidFill>
            <a:srgbClr val="F4F7FA"/>
          </a:solidFill>
          <a:ln w="9525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6304" y="6211044"/>
            <a:ext cx="10859393" cy="26342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6304" y="6211044"/>
            <a:ext cx="10859393" cy="9525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6304" y="504825"/>
            <a:ext cx="201216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1033" b="1" i="0" u="none" spc="103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8636" y="504825"/>
            <a:ext cx="1310061" cy="1326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1033" b="0" i="0" u="none" spc="13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참고</a:t>
            </a:r>
            <a:r>
              <a:rPr sz="1033" b="0" i="0" u="none" spc="13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· </a:t>
            </a:r>
            <a:r>
              <a:rPr sz="1033" b="0" i="0" u="none" spc="13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담당자</a:t>
            </a:r>
            <a:r>
              <a:rPr sz="1033" b="0" i="0" u="none" spc="134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033" b="0" i="0" u="none" spc="134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화면</a:t>
            </a:r>
            <a:endParaRPr sz="1033" b="0" i="0" u="none" spc="134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6304" y="737890"/>
            <a:ext cx="10859393" cy="496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911"/>
              </a:lnSpc>
              <a:spcBef>
                <a:spcPts val="0"/>
              </a:spcBef>
              <a:spcAft>
                <a:spcPts val="0"/>
              </a:spcAft>
            </a:pPr>
            <a:r>
              <a:rPr sz="3259" b="1" i="0" u="none" spc="-65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담당자가 쓰는 아홉 화면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639" y="1820466"/>
            <a:ext cx="3102918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54" b="1" i="0" u="none" spc="67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/admin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639" y="2044005"/>
            <a:ext cx="3102918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7"/>
              </a:lnSpc>
              <a:spcBef>
                <a:spcPts val="0"/>
              </a:spcBef>
              <a:spcAft>
                <a:spcPts val="0"/>
              </a:spcAft>
            </a:pPr>
            <a:r>
              <a:rPr sz="1272" b="1" i="0" u="none" spc="-19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개요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639" y="2315170"/>
            <a:ext cx="3102918" cy="2290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데이터 규모 · 이행 현황 · </a:t>
            </a:r>
            <a:r>
              <a:rPr sz="1113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점검이 필요한 항목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467" y="1820466"/>
            <a:ext cx="3102918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54" b="1" i="0" u="none" spc="67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/admin/structure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467" y="2044005"/>
            <a:ext cx="3102918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7"/>
              </a:lnSpc>
              <a:spcBef>
                <a:spcPts val="0"/>
              </a:spcBef>
              <a:spcAft>
                <a:spcPts val="0"/>
              </a:spcAft>
            </a:pPr>
            <a:r>
              <a:rPr sz="1272" b="1" i="0" u="none" spc="-19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계층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467" y="2334220"/>
            <a:ext cx="3102918" cy="4580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3단 편집 · 다음 코드 자동 제안 · 삭제 시 영향 범위 안내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294" y="1820466"/>
            <a:ext cx="3103066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54" b="1" i="0" u="none" spc="67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/admin/indicators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294" y="2044005"/>
            <a:ext cx="3103066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7"/>
              </a:lnSpc>
              <a:spcBef>
                <a:spcPts val="0"/>
              </a:spcBef>
              <a:spcAft>
                <a:spcPts val="0"/>
              </a:spcAft>
            </a:pPr>
            <a:r>
              <a:rPr sz="1272" b="1" i="0" u="none" spc="-19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 목록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294" y="2334220"/>
            <a:ext cx="3103066" cy="2290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필터와 검색 · 눈 아이콘으로 공개 ↔ 임시저장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639" y="3316039"/>
            <a:ext cx="3102918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54" b="1" i="0" u="none" spc="67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/admin/indicators/[id]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639" y="3539579"/>
            <a:ext cx="3102918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7"/>
              </a:lnSpc>
              <a:spcBef>
                <a:spcPts val="0"/>
              </a:spcBef>
              <a:spcAft>
                <a:spcPts val="0"/>
              </a:spcAft>
            </a:pPr>
            <a:r>
              <a:rPr sz="1272" b="1" i="0" u="none" spc="-19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 편집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639" y="3829794"/>
            <a:ext cx="3102918" cy="4580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메타데이터 + </a:t>
            </a:r>
            <a:r>
              <a:rPr sz="1113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연도별 실적값 인라인 편집</a:t>
            </a:r>
            <a:r>
              <a:rPr sz="111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. 넣으면 즉시 재계산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467" y="3316039"/>
            <a:ext cx="3102918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54" b="1" i="0" u="none" spc="67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/admin/actions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467" y="3539579"/>
            <a:ext cx="3102918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7"/>
              </a:lnSpc>
              <a:spcBef>
                <a:spcPts val="0"/>
              </a:spcBef>
              <a:spcAft>
                <a:spcPts val="0"/>
              </a:spcAft>
            </a:pPr>
            <a:r>
              <a:rPr sz="1272" b="1" i="0" u="none" spc="-19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이행과제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467" y="3829794"/>
            <a:ext cx="3102918" cy="2290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제목 · 요약 · 상태 · 기한 · 담당 · 근거 링크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294" y="3316039"/>
            <a:ext cx="3103066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54" b="1" i="0" u="none" spc="67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/admin/data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294" y="3539579"/>
            <a:ext cx="3103066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7"/>
              </a:lnSpc>
              <a:spcBef>
                <a:spcPts val="0"/>
              </a:spcBef>
              <a:spcAft>
                <a:spcPts val="0"/>
              </a:spcAft>
            </a:pPr>
            <a:r>
              <a:rPr sz="1272" b="1" i="0" u="none" spc="-19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가져오기 · 내보내기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294" y="3829794"/>
            <a:ext cx="3103066" cy="2290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CSV 7종 · 파일 업로드 또는 붙여넣기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639" y="4811613"/>
            <a:ext cx="3102918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54" b="1" i="0" u="none" spc="67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/admin/config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639" y="5035153"/>
            <a:ext cx="3102918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7"/>
              </a:lnSpc>
              <a:spcBef>
                <a:spcPts val="0"/>
              </a:spcBef>
              <a:spcAft>
                <a:spcPts val="0"/>
              </a:spcAft>
            </a:pPr>
            <a:r>
              <a:rPr sz="1272" b="1" i="0" u="none" spc="-19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사이트 설정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639" y="5325368"/>
            <a:ext cx="3102918" cy="2290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제목 · </a:t>
            </a:r>
            <a:r>
              <a:rPr sz="1113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계층 명칭 4종</a:t>
            </a:r>
            <a:r>
              <a:rPr sz="111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· 기관명 · 푸터 문구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4467" y="4811613"/>
            <a:ext cx="3102918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54" b="1" i="0" u="none" spc="67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/admin/logs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4467" y="5035153"/>
            <a:ext cx="3102918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7"/>
              </a:lnSpc>
              <a:spcBef>
                <a:spcPts val="0"/>
              </a:spcBef>
              <a:spcAft>
                <a:spcPts val="0"/>
              </a:spcAft>
            </a:pPr>
            <a:r>
              <a:rPr sz="1272" b="1" i="0" u="none" spc="-19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수정 이력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4467" y="5325368"/>
            <a:ext cx="3102918" cy="2290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11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시각 / 작업 / 대상 / 변경 상세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294" y="4811613"/>
            <a:ext cx="3103066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54" b="1" i="0" u="none" spc="67">
                <a:solidFill>
                  <a:srgbClr val="7048E8"/>
                </a:solidFill>
                <a:latin typeface="Paperlogy"/>
                <a:ea typeface="Paperlogy"/>
                <a:cs typeface="Paperlogy"/>
              </a:rPr>
              <a:t>/admin/preview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294" y="5035153"/>
            <a:ext cx="3103066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7"/>
              </a:lnSpc>
              <a:spcBef>
                <a:spcPts val="0"/>
              </a:spcBef>
              <a:spcAft>
                <a:spcPts val="0"/>
              </a:spcAft>
            </a:pPr>
            <a:r>
              <a:rPr sz="1272" b="1" i="0" u="none" spc="-19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미리보기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294" y="5306318"/>
            <a:ext cx="3103066" cy="2290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113" b="1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임시저장 항목까지 포함</a:t>
            </a:r>
            <a:r>
              <a:rPr sz="1113" b="0" i="0" u="none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해 최종 확인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304" y="6331595"/>
            <a:ext cx="1311653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4"/>
              </a:lnSpc>
              <a:spcBef>
                <a:spcPts val="0"/>
              </a:spcBef>
              <a:spcAft>
                <a:spcPts val="0"/>
              </a:spcAft>
            </a:pPr>
            <a:r>
              <a:rPr sz="914" b="0" i="0" u="none" spc="46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16. (</a:t>
            </a:r>
            <a:r>
              <a:rPr sz="914" b="0" i="0" u="none" spc="46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참고</a:t>
            </a:r>
            <a:r>
              <a:rPr sz="914" b="0" i="0" u="none" spc="46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) </a:t>
            </a:r>
            <a:r>
              <a:rPr sz="914" b="0" i="0" u="none" spc="46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담당자</a:t>
            </a:r>
            <a:r>
              <a:rPr sz="914" b="0" i="0" u="none" spc="46" dirty="0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914" b="0" i="0" u="none" spc="46" dirty="0" err="1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화면</a:t>
            </a:r>
            <a:endParaRPr sz="914" b="0" i="0" u="none" spc="46" dirty="0">
              <a:solidFill>
                <a:srgbClr val="6B7A8A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070134" y="6331595"/>
            <a:ext cx="455563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4"/>
              </a:lnSpc>
              <a:spcBef>
                <a:spcPts val="0"/>
              </a:spcBef>
              <a:spcAft>
                <a:spcPts val="0"/>
              </a:spcAft>
            </a:pPr>
            <a:r>
              <a:rPr sz="914" b="0" i="0" u="none" spc="46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26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38200" y="4476006"/>
            <a:ext cx="4358134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8200" y="4476006"/>
            <a:ext cx="4358134" cy="9525"/>
          </a:xfrm>
          <a:prstGeom prst="rect">
            <a:avLst/>
          </a:prstGeom>
          <a:solidFill>
            <a:srgbClr val="D5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81800"/>
            <a:ext cx="4063901" cy="76200"/>
          </a:xfrm>
          <a:prstGeom prst="rect">
            <a:avLst/>
          </a:prstGeom>
          <a:solidFill>
            <a:srgbClr val="18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901" y="6781800"/>
            <a:ext cx="4064050" cy="7620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27950" y="6781800"/>
            <a:ext cx="4064050" cy="7620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199" y="1962894"/>
            <a:ext cx="400455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 spc="234" dirty="0" err="1">
                <a:solidFill>
                  <a:srgbClr val="1864AB"/>
                </a:solidFill>
                <a:latin typeface="Paperlogy"/>
                <a:ea typeface="Paperlogy"/>
                <a:cs typeface="Paperlogy"/>
              </a:rPr>
              <a:t>정리</a:t>
            </a:r>
            <a:endParaRPr sz="975" b="1" i="0" u="none" spc="234" dirty="0">
              <a:solidFill>
                <a:srgbClr val="1864AB"/>
              </a:solidFill>
              <a:latin typeface="Paperlogy"/>
              <a:ea typeface="Paperlogy"/>
              <a:cs typeface="Paperlog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8200" y="2286744"/>
            <a:ext cx="4888149" cy="10798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52"/>
              </a:lnSpc>
              <a:spcBef>
                <a:spcPts val="0"/>
              </a:spcBef>
              <a:spcAft>
                <a:spcPts val="0"/>
              </a:spcAft>
            </a:pPr>
            <a:r>
              <a:rPr sz="3375" b="1" i="0" u="none" spc="-101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지표</a:t>
            </a:r>
            <a:r>
              <a:rPr sz="3375" b="1" i="0" u="none" spc="-101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3375" b="1" i="0" u="none" spc="-101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체계가</a:t>
            </a:r>
            <a:r>
              <a:rPr sz="3375" b="1" i="0" u="none" spc="-101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3375" b="1" i="0" u="none" spc="-101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바뀌어도</a:t>
            </a:r>
            <a:endParaRPr sz="3375" b="1" i="0" u="none" spc="-101" dirty="0">
              <a:solidFill>
                <a:srgbClr val="0E1620"/>
              </a:solidFill>
              <a:latin typeface="Paperlogy"/>
              <a:ea typeface="Paperlogy"/>
              <a:cs typeface="Paperlogy"/>
            </a:endParaRPr>
          </a:p>
          <a:p>
            <a:pPr algn="l">
              <a:lnSpc>
                <a:spcPts val="4252"/>
              </a:lnSpc>
              <a:spcBef>
                <a:spcPts val="0"/>
              </a:spcBef>
              <a:spcAft>
                <a:spcPts val="0"/>
              </a:spcAft>
            </a:pPr>
            <a:r>
              <a:rPr sz="3375" b="1" i="0" u="none" spc="-101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프로그램은</a:t>
            </a:r>
            <a:r>
              <a:rPr sz="3375" b="1" i="0" u="none" spc="-101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3375" b="1" i="0" u="none" spc="-101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그대로</a:t>
            </a:r>
            <a:r>
              <a:rPr sz="3375" b="1" i="0" u="none" spc="-101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3375" b="1" i="0" u="none" spc="-101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갑니다</a:t>
            </a:r>
            <a:r>
              <a:rPr sz="3375" b="1" i="0" u="none" spc="-101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557141"/>
            <a:ext cx="4530775" cy="55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계층</a:t>
            </a:r>
            <a:r>
              <a:rPr sz="1275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75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명칭</a:t>
            </a:r>
            <a:r>
              <a:rPr sz="1275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75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변경과</a:t>
            </a:r>
            <a:r>
              <a:rPr sz="1275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75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데이터</a:t>
            </a:r>
            <a:r>
              <a:rPr sz="1275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75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교체만으로</a:t>
            </a:r>
            <a:r>
              <a:rPr sz="1275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75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자체</a:t>
            </a:r>
            <a:r>
              <a:rPr sz="1275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75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계획지표</a:t>
            </a:r>
            <a:r>
              <a:rPr sz="1275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75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대시보드가</a:t>
            </a:r>
            <a:r>
              <a:rPr sz="1275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75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됩니다</a:t>
            </a:r>
            <a:r>
              <a:rPr sz="1275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.</a:t>
            </a:r>
            <a:endParaRPr lang="en-US" sz="1275" b="0" i="0" u="none" dirty="0">
              <a:solidFill>
                <a:srgbClr val="3B4857"/>
              </a:solidFill>
              <a:latin typeface="Paperlogy"/>
              <a:ea typeface="Paperlogy"/>
              <a:cs typeface="Paperlogy"/>
            </a:endParaRP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남은</a:t>
            </a:r>
            <a:r>
              <a:rPr sz="1275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75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일은</a:t>
            </a:r>
            <a:r>
              <a:rPr sz="1275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75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하나</a:t>
            </a:r>
            <a:r>
              <a:rPr sz="1275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 — </a:t>
            </a:r>
            <a:r>
              <a:rPr sz="1275" b="1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공개</a:t>
            </a:r>
            <a:r>
              <a:rPr sz="1275" b="1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전 </a:t>
            </a:r>
            <a:r>
              <a:rPr sz="1275" b="1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수치</a:t>
            </a:r>
            <a:r>
              <a:rPr sz="1275" b="1" i="0" u="none" dirty="0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 </a:t>
            </a:r>
            <a:r>
              <a:rPr sz="1275" b="1" i="0" u="none" dirty="0" err="1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검수</a:t>
            </a:r>
            <a:r>
              <a:rPr sz="1275" b="0" i="0" u="none" dirty="0" err="1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입니다</a:t>
            </a:r>
            <a:r>
              <a:rPr sz="1275" b="0" i="0" u="none" dirty="0">
                <a:solidFill>
                  <a:srgbClr val="3B4857"/>
                </a:solidFill>
                <a:latin typeface="Paperlogy"/>
                <a:ea typeface="Paperlogy"/>
                <a:cs typeface="Paperlogy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676031"/>
            <a:ext cx="970955" cy="123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62" b="0" i="0" u="none" spc="103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837956"/>
            <a:ext cx="970955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npm run 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3005" y="4676031"/>
            <a:ext cx="529382" cy="123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62" b="0" i="0" u="none" spc="103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관리자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3005" y="4837956"/>
            <a:ext cx="52938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/admin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6236" y="4676031"/>
            <a:ext cx="2210098" cy="123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62" b="0" i="0" u="none" spc="103">
                <a:solidFill>
                  <a:srgbClr val="6B7A8A"/>
                </a:solidFill>
                <a:latin typeface="Paperlogy"/>
                <a:ea typeface="Paperlogy"/>
                <a:cs typeface="Paperlogy"/>
              </a:rPr>
              <a:t>상세 문서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6236" y="4837956"/>
            <a:ext cx="2210098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0E1620"/>
                </a:solidFill>
                <a:latin typeface="Paperlogy"/>
                <a:ea typeface="Paperlogy"/>
                <a:cs typeface="Paperlogy"/>
              </a:rPr>
              <a:t>OVERVIEW.md ·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3066</Words>
  <Application>Microsoft Office PowerPoint</Application>
  <PresentationFormat>와이드스크린</PresentationFormat>
  <Paragraphs>585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Paperlogy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KEI</cp:lastModifiedBy>
  <cp:revision>12</cp:revision>
  <dcterms:created xsi:type="dcterms:W3CDTF">2013-01-27T09:14:16Z</dcterms:created>
  <dcterms:modified xsi:type="dcterms:W3CDTF">2026-08-27T04:15:05Z</dcterms:modified>
  <cp:category/>
</cp:coreProperties>
</file>